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02920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A40000"/>
                </a:solidFill>
                <a:latin typeface="Microsoft YaHei"/>
                <a:ea typeface="Microsoft YaHei"/>
              </a:rPr>
              <a:t>Kimi K3 A3FD 参数扫描实验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01828"/>
                </a:solidFill>
                <a:latin typeface="Microsoft YaHei"/>
                <a:ea typeface="Microsoft YaHei"/>
              </a:rPr>
              <a:t>Spec 1+3 / Spec 1+7 · 单 core L1.5 带宽 · monotonic envelope + 独立搜索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467"/>
                </a:solidFill>
                <a:latin typeface="Microsoft YaHei"/>
                <a:ea typeface="Microsoft YaHei"/>
              </a:rPr>
              <a:t>代表工况 TPOT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A40000"/>
                </a:solidFill>
                <a:latin typeface="Microsoft YaHei"/>
                <a:ea typeface="Microsoft YaHei"/>
              </a:rPr>
              <a:t>1.1388 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58568"/>
            <a:ext cx="25603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最低点：2000 GB/s/core · TP8/128k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572768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467"/>
                </a:solidFill>
                <a:latin typeface="Microsoft YaHei"/>
                <a:ea typeface="Microsoft YaHei"/>
              </a:rPr>
              <a:t>五层联合仿真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84708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74EA6"/>
                </a:solidFill>
                <a:latin typeface="Microsoft YaHei"/>
                <a:ea typeface="Microsoft YaHei"/>
              </a:rPr>
              <a:t>276.828 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258568"/>
            <a:ext cx="25603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4 层 KDA + 1 层 MLA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572768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467"/>
                </a:solidFill>
                <a:latin typeface="Microsoft YaHei"/>
                <a:ea typeface="Microsoft YaHei"/>
              </a:rPr>
              <a:t>FFN 服务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84708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897B"/>
                </a:solidFill>
                <a:latin typeface="Microsoft YaHei"/>
                <a:ea typeface="Microsoft YaHei"/>
              </a:rPr>
              <a:t>2.376 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258568"/>
            <a:ext cx="25603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单次独立映射服务时延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1572768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467"/>
                </a:solidFill>
                <a:latin typeface="Microsoft YaHei"/>
                <a:ea typeface="Microsoft YaHei"/>
              </a:rPr>
              <a:t>预取 SRAM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184708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74EA6"/>
                </a:solidFill>
                <a:latin typeface="Microsoft YaHei"/>
                <a:ea typeface="Microsoft YaHei"/>
              </a:rPr>
              <a:t>3.5 MB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258568"/>
            <a:ext cx="25603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每 core 可用于权重预取</a:t>
            </a:r>
          </a:p>
        </p:txBody>
      </p:sp>
      <p:graphicFrame>
        <p:nvGraphicFramePr>
          <p:cNvPr id="16" name="Table 15"/>
          <p:cNvGraphicFramePr>
            <a:graphicFrameLocks/>
          </p:cNvGraphicFramePr>
          <p:nvPr/>
        </p:nvGraphicFramePr>
        <p:xfrm>
          <a:off x="731520" y="2743200"/>
          <a:ext cx="1069848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FFN服务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五层时延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ITL (ms)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 (ms/token)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预取SRAM (MB)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2000 GB/s/core · TP8/128k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2.376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276.828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6.4856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1.1388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94360" y="574243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</a:rPr>
              <a:t>FFN 服务时延来自独立映射结果，并按五层服务节点注入联合仿真。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</a:rPr>
              <a:t>TPOT 使用通用 metrics 口径从五层 KDA/MLA 外推，并加入配置中的投机开销与接受率。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1124712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单 core L1.5 带宽扫描：最佳点 TPOT 1.1388 ms/token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31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横轴为该组扫描参数；其他配置保持不变</a:t>
            </a:r>
          </a:p>
        </p:txBody>
      </p:sp>
      <p:pic>
        <p:nvPicPr>
          <p:cNvPr id="4" name="Picture 3" descr="report_l15_bandwidth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78992"/>
            <a:ext cx="5806440" cy="42976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/>
          </p:cNvGraphicFramePr>
          <p:nvPr/>
        </p:nvGraphicFramePr>
        <p:xfrm>
          <a:off x="6291072" y="1060704"/>
          <a:ext cx="5532116" cy="3977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113"/>
                <a:gridCol w="898378"/>
                <a:gridCol w="992944"/>
                <a:gridCol w="851095"/>
                <a:gridCol w="756529"/>
                <a:gridCol w="1040227"/>
                <a:gridCol w="472830"/>
              </a:tblGrid>
              <a:tr h="30597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单 core L1.5 带宽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</a:t>
                      </a:r>
                      <a:br/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(ms/token)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五层总时延</a:t>
                      </a:r>
                      <a:br/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五层FFN</a:t>
                      </a:r>
                      <a:br/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exposed</a:t>
                      </a:r>
                      <a:br/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断点</a:t>
                      </a:r>
                      <a:br/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(次)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30597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 · TP8/128k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1.6739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250.673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11.887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10.321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30597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1+3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1.6281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242.086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11.884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1.972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30597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576 GB/s/core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1.4663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213.653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11.883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3.665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30597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1+3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768 GB/s/core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1.3850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199.997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11.882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4.657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30597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960 GB/s/core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1.3607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196.102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11.882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5.285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30597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1+3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2000 GB/s/core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1.3606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196.087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11.881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5.287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30597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 · TP8/128k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1.3243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331.696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11.887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11.166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30597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1.3009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324.421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11.884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3.944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30597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576 GB/s/core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1.2032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294.708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11.883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4.354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30597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768 GB/s/core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1.1536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281.023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11.882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4.362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30597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960 GB/s/core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1.1388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276.842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11.882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5.488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30597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2000 GB/s/core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1.1388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276.828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11.881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5.490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574243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</a:rPr>
              <a:t>表中 DRAM exposed 为逐算子 max(0, visible DRAM − max(SRAM, compute)) 的五层求和。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</a:rPr>
              <a:t>该组使用 monotonic envelope：同时保留独立搜索结果，并回放既有路径选择非退化包络。 关闭预取为相同硬件条件下的独立搜索对照，不属于该包络。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1124712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1+3 时间拆分：ATTN_LPU、FFN_LPU、DV 与 UB 通信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31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时间单位为 μs，括号为该项 / total；compute、NOC 与存储服务可重叠</a:t>
            </a:r>
          </a:p>
        </p:txBody>
      </p:sp>
      <p:graphicFrame>
        <p:nvGraphicFramePr>
          <p:cNvPr id="4" name="Table 3"/>
          <p:cNvGraphicFramePr>
            <a:graphicFrameLocks/>
          </p:cNvGraphicFramePr>
          <p:nvPr/>
        </p:nvGraphicFramePr>
        <p:xfrm>
          <a:off x="411480" y="1051560"/>
          <a:ext cx="11292836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382"/>
                <a:gridCol w="888200"/>
                <a:gridCol w="1099677"/>
                <a:gridCol w="1099677"/>
                <a:gridCol w="972791"/>
                <a:gridCol w="1268858"/>
                <a:gridCol w="1268858"/>
                <a:gridCol w="1522630"/>
                <a:gridCol w="1268858"/>
                <a:gridCol w="845905"/>
              </a:tblGrid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总时间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Cube compute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Vector compute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NOC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exposed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breaks (次)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250.673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40.683 (16.2%)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7.594 (3.0%)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13.959 (5.6%)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107.604 (42.9%)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92.619 (36.9%)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23.543 (9.4%)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10.321 (4.1%)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89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242.086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40.640 (16.8%)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7.388 (3.1%)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14.100 (5.8%)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102.219 (42.2%)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92.735 (38.3%)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23.521 (9.7%)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1.972 (0.8%)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576 GB/s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213.653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40.640 (19.0%)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7.388 (3.5%)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14.100 (6.6%)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99.619 (46.6%)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61.823 (28.9%)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23.521 (11.0%)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3.665 (1.7%)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768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199.997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40.704 (20.4%)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7.322 (3.7%)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14.460 (7.2%)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99.786 (49.9%)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46.451 (23.2%)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23.532 (11.8%)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4.657 (2.3%)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960 GB/s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196.102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40.704 (20.8%)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7.322 (3.7%)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14.460 (7.4%)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99.786 (50.9%)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37.161 (18.9%)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23.532 (12.0%)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5.285 (2.7%)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2000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196.087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40.704 (20.8%)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7.322 (3.7%)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14.460 (7.4%)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99.786 (50.9%)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17.837 (9.1%)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23.532 (12.0%)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5.287 (2.7%)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/>
          </p:cNvGraphicFramePr>
          <p:nvPr/>
        </p:nvGraphicFramePr>
        <p:xfrm>
          <a:off x="411480" y="3246120"/>
          <a:ext cx="1129283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791"/>
                <a:gridCol w="761315"/>
                <a:gridCol w="676724"/>
                <a:gridCol w="930496"/>
                <a:gridCol w="930496"/>
                <a:gridCol w="719019"/>
                <a:gridCol w="761315"/>
                <a:gridCol w="1226563"/>
                <a:gridCol w="972791"/>
                <a:gridCol w="845905"/>
                <a:gridCol w="761315"/>
                <a:gridCol w="888200"/>
                <a:gridCol w="845905"/>
              </a:tblGrid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DV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UB通信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UB通信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UB通信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层类型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层类型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结果指标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compute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NOC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compute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TP通信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dispatch/combine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LPU-DV通信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KDA avg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MLA avg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 (μs/token)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11.493 (4.6%)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0.384 (0.2%)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7.281 (2.9%)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 (2.5%)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1.516 (0.6%)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52.710 (21.0%)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7.595 (3.0%)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28.928 (11.5%)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27.148 (10.8%)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39.174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93.904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1673.947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11.493 (4.7%)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0.384 (0.2%)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 (2.6%)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 (2.6%)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1.516 (0.6%)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52.710 (21.8%)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7.595 (3.1%)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28.928 (11.9%)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27.148 (11.2%)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37.380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92.494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1628.110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576 GB/s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11.493 (5.4%)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0.384 (0.2%)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 (2.9%)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4.188 (2.0%)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1.516 (0.7%)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52.710 (24.7%)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7.595 (3.6%)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28.928 (13.5%)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27.148 (12.7%)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31.202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87.076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1466.337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768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11.493 (5.7%)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0.384 (0.2%)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 (3.1%)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3.141 (1.6%)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1.516 (0.8%)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52.710 (26.4%)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7.595 (3.8%)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28.928 (14.5%)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27.148 (13.6%)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28.111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84.304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1384.989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960 GB/s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11.493 (5.9%)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0.384 (0.2%)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 (3.2%)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2.513 (1.3%)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1.516 (0.8%)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52.710 (26.9%)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7.595 (3.9%)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28.928 (14.8%)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27.148 (13.8%)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27.183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83.486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1360.661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2000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11.493 (5.9%)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0.384 (0.2%)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 (3.2%)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1.206 (0.6%)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1.516 (0.8%)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52.710 (26.9%)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7.595 (3.9%)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28.928 (14.8%)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27.148 (13.8%)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27.180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83.482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1360.566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144768"/>
            <a:ext cx="109728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01828"/>
                </a:solidFill>
                <a:latin typeface="Microsoft YaHei"/>
                <a:ea typeface="Microsoft YaHei"/>
              </a:rPr>
              <a:t>FFN_LPU 四项由单次服务原始算子明细逐项求和，并按联合图中的服务次数展开。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828"/>
                </a:solidFill>
                <a:latin typeface="Microsoft YaHei"/>
                <a:ea typeface="Microsoft YaHei"/>
              </a:rPr>
              <a:t>KDA avg / MLA avg 使用当前 TPOT 估算器的 warm-up 后层类型均值。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1124712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1+7 时间拆分：ATTN_LPU、FFN_LPU、DV 与 UB 通信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31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时间单位为 μs，括号为该项 / total；compute、NOC 与存储服务可重叠</a:t>
            </a:r>
          </a:p>
        </p:txBody>
      </p:sp>
      <p:graphicFrame>
        <p:nvGraphicFramePr>
          <p:cNvPr id="4" name="Table 3"/>
          <p:cNvGraphicFramePr>
            <a:graphicFrameLocks/>
          </p:cNvGraphicFramePr>
          <p:nvPr/>
        </p:nvGraphicFramePr>
        <p:xfrm>
          <a:off x="411480" y="1051560"/>
          <a:ext cx="11292836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382"/>
                <a:gridCol w="888200"/>
                <a:gridCol w="1099677"/>
                <a:gridCol w="1099677"/>
                <a:gridCol w="972791"/>
                <a:gridCol w="1268858"/>
                <a:gridCol w="1268858"/>
                <a:gridCol w="1522630"/>
                <a:gridCol w="1268858"/>
                <a:gridCol w="845905"/>
              </a:tblGrid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总时间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Cube compute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Vector compute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NOC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exposed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breaks (次)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331.696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40.693 (12.3%)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14.624 (4.4%)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24.735 (7.5%)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113.704 (34.3%)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92.641 (27.9%)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29.505 (8.9%)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11.166 (3.4%)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89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324.421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40.683 (12.5%)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14.691 (4.5%)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24.729 (7.6%)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109.466 (33.7%)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92.903 (28.6%)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29.561 (9.1%)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3.944 (1.2%)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576 GB/s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294.708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40.683 (13.8%)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14.691 (5.0%)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24.729 (8.4%)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107.266 (36.4%)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61.935 (21.0%)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29.561 (10.0%)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4.354 (1.5%)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768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281.023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40.849 (14.5%)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15.693 (5.6%)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24.902 (8.9%)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106.815 (38.0%)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46.626 (16.6%)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29.663 (10.6%)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4.362 (1.6%)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960 GB/s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276.842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40.859 (14.8%)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14.488 (5.2%)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25.327 (9.1%)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106.617 (38.5%)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37.301 (13.5%)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29.602 (10.7%)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5.488 (2.0%)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2000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276.828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40.859 (14.8%)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14.488 (5.2%)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25.327 (9.1%)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106.617 (38.5%)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17.905 (6.5%)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29.602 (10.7%)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5.490 (2.0%)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/>
          </p:cNvGraphicFramePr>
          <p:nvPr/>
        </p:nvGraphicFramePr>
        <p:xfrm>
          <a:off x="411480" y="3246120"/>
          <a:ext cx="1129283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791"/>
                <a:gridCol w="761315"/>
                <a:gridCol w="676724"/>
                <a:gridCol w="930496"/>
                <a:gridCol w="930496"/>
                <a:gridCol w="719019"/>
                <a:gridCol w="761315"/>
                <a:gridCol w="1226563"/>
                <a:gridCol w="972791"/>
                <a:gridCol w="845905"/>
                <a:gridCol w="761315"/>
                <a:gridCol w="888200"/>
                <a:gridCol w="845905"/>
              </a:tblGrid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DV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UB通信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UB通信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UB通信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层类型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层类型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结果指标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compute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NOC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compute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TP通信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dispatch/combine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LPU-DV通信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KDA avg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MLA avg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 (μs/token)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11.493 (3.5%)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0.384 (0.1%)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7.281 (2.2%)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 (1.9%)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1.516 (0.5%)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103.400 (31.2%)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10.190 (3.1%)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34.943 (10.5%)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30.200 (9.1%)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45.045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151.418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1324.264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11.493 (3.5%)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0.384 (0.1%)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 (1.9%)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 (1.9%)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1.516 (0.5%)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103.400 (31.9%)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10.190 (3.1%)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34.943 (10.8%)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30.200 (9.3%)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43.562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150.133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1300.881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576 GB/s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11.493 (3.9%)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0.384 (0.1%)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 (2.1%)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4.188 (1.4%)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1.516 (0.5%)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103.400 (35.1%)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10.190 (3.5%)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34.943 (11.9%)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30.200 (10.2%)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37.391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144.688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1203.183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768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11.493 (4.1%)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0.384 (0.1%)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 (2.2%)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3.141 (1.1%)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1.516 (0.5%)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103.400 (36.8%)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10.190 (3.6%)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34.943 (12.4%)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30.200 (10.7%)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34.237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141.981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1153.562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960 GB/s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11.493 (4.2%)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0.384 (0.1%)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 (2.3%)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2.513 (0.9%)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1.516 (0.5%)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103.400 (37.3%)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10.190 (3.7%)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34.943 (12.6%)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30.200 (10.9%)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33.299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141.178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1138.810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2000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11.493 (4.2%)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0.384 (0.1%)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 (2.3%)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1.206 (0.4%)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1.516 (0.5%)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103.400 (37.4%)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10.190 (3.7%)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34.943 (12.6%)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30.200 (10.9%)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33.296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141.174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1138.757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144768"/>
            <a:ext cx="109728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01828"/>
                </a:solidFill>
                <a:latin typeface="Microsoft YaHei"/>
                <a:ea typeface="Microsoft YaHei"/>
              </a:rPr>
              <a:t>FFN_LPU 四项由单次服务原始算子明细逐项求和，并按联合图中的服务次数展开。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828"/>
                </a:solidFill>
                <a:latin typeface="Microsoft YaHei"/>
                <a:ea typeface="Microsoft YaHei"/>
              </a:rPr>
              <a:t>KDA avg / MLA avg 使用当前 TPOT 估算器的 warm-up 后层类型均值。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1124712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1+3 单 core L1.5 带宽：联合泳道对比（1/2）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31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左侧 关闭预取 · TP8/128k；右侧 384 GB/s/core · TP8/128k；端点为 monotonic envelope 最终选中结果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关闭预取 · TP8/128k</a:t>
            </a:r>
          </a:p>
        </p:txBody>
      </p:sp>
      <p:pic>
        <p:nvPicPr>
          <p:cNvPr id="5" name="Picture 4" descr="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16152"/>
            <a:ext cx="5715000" cy="3337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99632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384 GB/s/core · TP8/128k</a:t>
            </a:r>
          </a:p>
        </p:txBody>
      </p:sp>
      <p:pic>
        <p:nvPicPr>
          <p:cNvPr id="7" name="Picture 6" descr="ma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16152"/>
            <a:ext cx="5715000" cy="33375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/>
          </p:cNvGraphicFramePr>
          <p:nvPr/>
        </p:nvGraphicFramePr>
        <p:xfrm>
          <a:off x="960120" y="4782312"/>
          <a:ext cx="10241274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79"/>
                <a:gridCol w="1706879"/>
                <a:gridCol w="1706879"/>
                <a:gridCol w="1706879"/>
                <a:gridCol w="1706879"/>
                <a:gridCol w="1706879"/>
              </a:tblGrid>
              <a:tr h="259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五层FFN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exposed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断点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 (ms/token)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9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 · TP8/128k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250.673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11.887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10.321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1.6739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9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GB/s/core · TP8/128k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242.086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11.884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1.972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1.6281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574243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</a:rPr>
              <a:t>同为 384 GB/s/core：左侧关闭跨算子异步预取，右侧开启；两者均保留算子内部同步 tile 流水。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1124712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1+3 单 core L1.5 带宽：联合泳道对比（2/2）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31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左侧 768 GB/s/core · TP8/128k；右侧 2000 GB/s/core · TP8/128k；端点为 monotonic envelope 最终选中结果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768 GB/s/core · TP8/128k</a:t>
            </a:r>
          </a:p>
        </p:txBody>
      </p:sp>
      <p:pic>
        <p:nvPicPr>
          <p:cNvPr id="5" name="Picture 4" descr="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16152"/>
            <a:ext cx="5715000" cy="3337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99632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2000 GB/s/core · TP8/128k</a:t>
            </a:r>
          </a:p>
        </p:txBody>
      </p:sp>
      <p:pic>
        <p:nvPicPr>
          <p:cNvPr id="7" name="Picture 6" descr="ma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16152"/>
            <a:ext cx="5715000" cy="33375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/>
          </p:cNvGraphicFramePr>
          <p:nvPr/>
        </p:nvGraphicFramePr>
        <p:xfrm>
          <a:off x="960120" y="4782312"/>
          <a:ext cx="10241274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79"/>
                <a:gridCol w="1706879"/>
                <a:gridCol w="1706879"/>
                <a:gridCol w="1706879"/>
                <a:gridCol w="1706879"/>
                <a:gridCol w="1706879"/>
              </a:tblGrid>
              <a:tr h="259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五层FFN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exposed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断点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 (ms/token)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9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768 GB/s/core · TP8/128k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199.997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11.882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4.657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1.3850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9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2000 GB/s/core · TP8/128k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196.087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11.881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5.287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1.3606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574243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</a:rPr>
              <a:t>两侧均开启预取，只比较 768 与 2000 GB/s/core 的 L1.5→L1 带宽。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1124712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1+3 单 core L1.5 带宽端点：FFN 服务独立映射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31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同为 384 GB/s/core，仅切换异步预取；按 mapper 绝对时间由当前 FFN CSV/trace 重画。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关闭预取 · TP8/128k</a:t>
            </a:r>
          </a:p>
        </p:txBody>
      </p:sp>
      <p:pic>
        <p:nvPicPr>
          <p:cNvPr id="5" name="Picture 4" descr="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16152"/>
            <a:ext cx="5715000" cy="3337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99632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384 GB/s/core · TP8/128k</a:t>
            </a:r>
          </a:p>
        </p:txBody>
      </p:sp>
      <p:pic>
        <p:nvPicPr>
          <p:cNvPr id="7" name="Picture 6" descr="ma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16152"/>
            <a:ext cx="5715000" cy="33375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/>
          </p:cNvGraphicFramePr>
          <p:nvPr/>
        </p:nvGraphicFramePr>
        <p:xfrm>
          <a:off x="777240" y="4782312"/>
          <a:ext cx="1065276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1595"/>
                <a:gridCol w="1331595"/>
                <a:gridCol w="1331595"/>
                <a:gridCol w="1331595"/>
                <a:gridCol w="1331595"/>
                <a:gridCol w="1331595"/>
                <a:gridCol w="1331595"/>
                <a:gridCol w="1331595"/>
              </a:tblGrid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单次FFN服务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五层FFN总耗时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 compute总和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 NOC总和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 DRAM total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 L1.5 total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 L1 total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 · TP8/128k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2.377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11.887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11.493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0.384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7.281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1.516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GB/s/core · TP8/128k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2.377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11.884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11.493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0.384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1.516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574243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</a:rPr>
              <a:t>关闭预取表示没有跨算子的异步权重预取；算子内部 L2→L1.5→L1 tile 流水仍按因果关系重放。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</a:rPr>
              <a:t>四项资源时间为五层服务次数展开后的直接求和，可彼此重叠，不相加重建墙钟时延。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1124712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1+3 单 core L1.5 带宽端点：Activation SRAM 占用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31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与联合、FFN 页采用同一对工况；曲线由当前 activation trace 重画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关闭预取 · TP8/128k</a:t>
            </a:r>
          </a:p>
        </p:txBody>
      </p:sp>
      <p:pic>
        <p:nvPicPr>
          <p:cNvPr id="5" name="Picture 4" descr="activation_sram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16152"/>
            <a:ext cx="5715000" cy="3337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99632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384 GB/s/core · TP8/128k</a:t>
            </a:r>
          </a:p>
        </p:txBody>
      </p:sp>
      <p:pic>
        <p:nvPicPr>
          <p:cNvPr id="7" name="Picture 6" descr="activation_sram_tr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16152"/>
            <a:ext cx="5715000" cy="33375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/>
          </p:cNvGraphicFramePr>
          <p:nvPr/>
        </p:nvGraphicFramePr>
        <p:xfrm>
          <a:off x="1828800" y="4782312"/>
          <a:ext cx="85039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980"/>
                <a:gridCol w="2125980"/>
                <a:gridCol w="2125980"/>
                <a:gridCol w="2125980"/>
              </a:tblGrid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Activation buffer (MB/core)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 (ms/token)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 · TP8/128k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0.500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250.673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1.6739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GB/s/core · TP8/128k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0.500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242.086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1.6281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574243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</a:rPr>
              <a:t>该图只展示 activation/resident SRAM；权重预取缓冲区由 L1.5 trace 单独审计。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1124712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1+7 单 core L1.5 带宽：联合泳道对比（1/2）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31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左侧 关闭预取 · TP8/128k；右侧 384 GB/s/core · TP8/128k；端点为 monotonic envelope 最终选中结果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关闭预取 · TP8/128k</a:t>
            </a:r>
          </a:p>
        </p:txBody>
      </p:sp>
      <p:pic>
        <p:nvPicPr>
          <p:cNvPr id="5" name="Picture 4" descr="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16152"/>
            <a:ext cx="5715000" cy="3337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99632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384 GB/s/core · TP8/128k</a:t>
            </a:r>
          </a:p>
        </p:txBody>
      </p:sp>
      <p:pic>
        <p:nvPicPr>
          <p:cNvPr id="7" name="Picture 6" descr="ma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16152"/>
            <a:ext cx="5715000" cy="33375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/>
          </p:cNvGraphicFramePr>
          <p:nvPr/>
        </p:nvGraphicFramePr>
        <p:xfrm>
          <a:off x="960120" y="4782312"/>
          <a:ext cx="10241274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79"/>
                <a:gridCol w="1706879"/>
                <a:gridCol w="1706879"/>
                <a:gridCol w="1706879"/>
                <a:gridCol w="1706879"/>
                <a:gridCol w="1706879"/>
              </a:tblGrid>
              <a:tr h="259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五层FFN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exposed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断点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 (ms/token)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9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 · TP8/128k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331.696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11.887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11.166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1.3243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9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GB/s/core · TP8/128k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324.421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11.884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3.944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1.3009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574243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</a:rPr>
              <a:t>同为 384 GB/s/core：左侧关闭跨算子异步预取，右侧开启；两者均保留算子内部同步 tile 流水。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1124712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1+7 单 core L1.5 带宽：联合泳道对比（2/2）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31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左侧 768 GB/s/core · TP8/128k；右侧 2000 GB/s/core · TP8/128k；端点为 monotonic envelope 最终选中结果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768 GB/s/core · TP8/128k</a:t>
            </a:r>
          </a:p>
        </p:txBody>
      </p:sp>
      <p:pic>
        <p:nvPicPr>
          <p:cNvPr id="5" name="Picture 4" descr="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16152"/>
            <a:ext cx="5715000" cy="3337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99632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2000 GB/s/core · TP8/128k</a:t>
            </a:r>
          </a:p>
        </p:txBody>
      </p:sp>
      <p:pic>
        <p:nvPicPr>
          <p:cNvPr id="7" name="Picture 6" descr="ma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16152"/>
            <a:ext cx="5715000" cy="33375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/>
          </p:cNvGraphicFramePr>
          <p:nvPr/>
        </p:nvGraphicFramePr>
        <p:xfrm>
          <a:off x="960120" y="4782312"/>
          <a:ext cx="10241274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79"/>
                <a:gridCol w="1706879"/>
                <a:gridCol w="1706879"/>
                <a:gridCol w="1706879"/>
                <a:gridCol w="1706879"/>
                <a:gridCol w="1706879"/>
              </a:tblGrid>
              <a:tr h="259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五层FFN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exposed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断点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 (ms/token)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9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768 GB/s/core · TP8/128k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281.023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11.882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4.362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1.1536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9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2000 GB/s/core · TP8/128k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276.828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11.881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5.490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1.1388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574243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</a:rPr>
              <a:t>两侧均开启预取，只比较 768 与 2000 GB/s/core 的 L1.5→L1 带宽。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1124712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1+7 单 core L1.5 带宽端点：FFN 服务独立映射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31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同为 384 GB/s/core，仅切换异步预取；按 mapper 绝对时间由当前 FFN CSV/trace 重画。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关闭预取 · TP8/128k</a:t>
            </a:r>
          </a:p>
        </p:txBody>
      </p:sp>
      <p:pic>
        <p:nvPicPr>
          <p:cNvPr id="5" name="Picture 4" descr="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16152"/>
            <a:ext cx="5715000" cy="3337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99632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384 GB/s/core · TP8/128k</a:t>
            </a:r>
          </a:p>
        </p:txBody>
      </p:sp>
      <p:pic>
        <p:nvPicPr>
          <p:cNvPr id="7" name="Picture 6" descr="ma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16152"/>
            <a:ext cx="5715000" cy="33375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/>
          </p:cNvGraphicFramePr>
          <p:nvPr/>
        </p:nvGraphicFramePr>
        <p:xfrm>
          <a:off x="777240" y="4782312"/>
          <a:ext cx="1065276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1595"/>
                <a:gridCol w="1331595"/>
                <a:gridCol w="1331595"/>
                <a:gridCol w="1331595"/>
                <a:gridCol w="1331595"/>
                <a:gridCol w="1331595"/>
                <a:gridCol w="1331595"/>
                <a:gridCol w="1331595"/>
              </a:tblGrid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单次FFN服务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五层FFN总耗时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 compute总和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 NOC总和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 DRAM total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 L1.5 total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 L1 total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 · TP8/128k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2.377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11.887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11.493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0.384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7.281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1.516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GB/s/core · TP8/128k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2.377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11.884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11.493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0.384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1.516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574243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</a:rPr>
              <a:t>关闭预取表示没有跨算子的异步权重预取；算子内部 L2→L1.5→L1 tile 流水仍按因果关系重放。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</a:rPr>
              <a:t>四项资源时间为五层服务次数展开后的直接求和，可彼此重叠，不相加重建墙钟时延。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1124712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1+7 单 core L1.5 带宽端点：Activation SRAM 占用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31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与联合、FFN 页采用同一对工况；曲线由当前 activation trace 重画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关闭预取 · TP8/128k</a:t>
            </a:r>
          </a:p>
        </p:txBody>
      </p:sp>
      <p:pic>
        <p:nvPicPr>
          <p:cNvPr id="5" name="Picture 4" descr="activation_sram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16152"/>
            <a:ext cx="5715000" cy="3337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99632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384 GB/s/core · TP8/128k</a:t>
            </a:r>
          </a:p>
        </p:txBody>
      </p:sp>
      <p:pic>
        <p:nvPicPr>
          <p:cNvPr id="7" name="Picture 6" descr="activation_sram_tr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16152"/>
            <a:ext cx="5715000" cy="33375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/>
          </p:cNvGraphicFramePr>
          <p:nvPr/>
        </p:nvGraphicFramePr>
        <p:xfrm>
          <a:off x="1828800" y="4782312"/>
          <a:ext cx="85039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980"/>
                <a:gridCol w="2125980"/>
                <a:gridCol w="2125980"/>
                <a:gridCol w="2125980"/>
              </a:tblGrid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Activation buffer (MB/core)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 (ms/token)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 · TP8/128k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0.500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331.696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1.3243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GB/s/core · TP8/128k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0.500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324.421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1.3009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574243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</a:rPr>
              <a:t>该图只展示 activation/resident SRAM；权重预取缓冲区由 L1.5 trace 单独审计。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1124712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结论：本次最低 TPOT 工况为 2000 GB/s/core · TP8/128k，1.1388 ms/token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31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结论只覆盖本结果目录包含的模型、上下文、硬件设置与已记录搜索结果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0424160" cy="3886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01828"/>
                </a:solidFill>
                <a:latin typeface="Microsoft YaHei"/>
                <a:ea typeface="Microsoft YaHei"/>
              </a:rPr>
              <a:t>关键路径：2000 GB/s/core · TP8/128k 五层总时延 276.828 μs，其中四层 KDA 135.653 μs、一层 MLA 141.174 μs。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01828"/>
                </a:solidFill>
                <a:latin typeface="Microsoft YaHei"/>
                <a:ea typeface="Microsoft YaHei"/>
              </a:rPr>
              <a:t>单 core L1.5 带宽，Spec 1+3 / TP8 / 128k：384 GB/s/core · TP8/128k→2000 GB/s/core · TP8/128k，TPOT 1.6281→1.3606 ms/token（-16.43%）。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01828"/>
                </a:solidFill>
                <a:latin typeface="Microsoft YaHei"/>
                <a:ea typeface="Microsoft YaHei"/>
              </a:rPr>
              <a:t>独立搜索属于启发式结果，不能据此证明全局最优；有序内存 sweep 默认另存 monotonic envelope 结果。</a:t>
            </a:r>
          </a:p>
        </p:txBody>
      </p:sp>
      <p:graphicFrame>
        <p:nvGraphicFramePr>
          <p:cNvPr id="5" name="Table 4"/>
          <p:cNvGraphicFramePr>
            <a:graphicFrameLocks/>
          </p:cNvGraphicFramePr>
          <p:nvPr/>
        </p:nvGraphicFramePr>
        <p:xfrm>
          <a:off x="1097280" y="4754880"/>
          <a:ext cx="9966959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1677"/>
                <a:gridCol w="7565282"/>
              </a:tblGrid>
              <a:tr h="24003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自动产物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用途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4003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PPT紧凑数据表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逐工况关键路径、资源总量、暴露时间与 TPOT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4003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报告数据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PPT页面和结论的可审计输入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4003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趋势图与代表泳道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逐组 sweep 趋势和端点时序核对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最终实验条件：模型、搜索与产物策略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该清单与运行前确认使用同一份权威数据</a:t>
            </a:r>
          </a:p>
        </p:txBody>
      </p:sp>
      <p:graphicFrame>
        <p:nvGraphicFramePr>
          <p:cNvPr id="4" name="Table 3"/>
          <p:cNvGraphicFramePr>
            <a:graphicFrameLocks/>
          </p:cNvGraphicFramePr>
          <p:nvPr/>
        </p:nvGraphicFramePr>
        <p:xfrm>
          <a:off x="685800" y="1143000"/>
          <a:ext cx="10835639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972"/>
                <a:gridCol w="8453667"/>
              </a:tblGrid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条件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取值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模型 / preset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kimi_k3 / l15-bandwidth-sweep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 / context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spec3, spec7 / 128k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采样层 / 调度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 layers / early-q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搜索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diverse；beam=128, bucket=2, ratio=0.5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各组实际 Sweep 搜索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l15_bandwidth_sweep=monotonic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并发 / 复用校验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workers=2；复用与汇总均要求 manifest/条件指纹完全一致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图表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plot=True；activation trace=True；state band=0 MB/core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所有表项均来自本次运行实际使用的模型、搜索、绘图和结果设置。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最终实验条件：模型配置、投机策略、芯片与链路（1）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同一实验中未声明为扫描轴的字段必须一致；不允许某些工况漏加 drafter</a:t>
            </a:r>
          </a:p>
        </p:txBody>
      </p:sp>
      <p:graphicFrame>
        <p:nvGraphicFramePr>
          <p:cNvPr id="4" name="Table 3"/>
          <p:cNvGraphicFramePr>
            <a:graphicFrameLocks/>
          </p:cNvGraphicFramePr>
          <p:nvPr/>
        </p:nvGraphicFramePr>
        <p:xfrm>
          <a:off x="228600" y="1078992"/>
          <a:ext cx="11750037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275"/>
                <a:gridCol w="1474701"/>
                <a:gridCol w="1664985"/>
                <a:gridCol w="1855269"/>
                <a:gridCol w="1855269"/>
                <a:gridCol w="2045553"/>
                <a:gridCol w="1664985"/>
              </a:tblGrid>
              <a:tr h="15087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 / Seq / BS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DV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Drafter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接受率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15087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spec3/tp8/128k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1+3 / 131072 / 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B200-1 ×1; A=1×1; M=1×1×1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F100 ×8; A=1×8; M=8×1×1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F100 ×896; A=896×1; M=1×1×896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0.8+0×3=0.8 ms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0.9 / E[token]=3.4390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15087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spec7/tp8/128k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1+7 / 131072 / 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B200-1 ×1; A=1×1; M=1×1×1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F100 ×8; A=1×8; M=8×1×1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F100 ×896; A=896×1; M=1×1×896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0.8+0×7=0.8 ms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0.9 / E[token]=5.6950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Drafter 显示 base + per-step × spec_steps；芯片角色与并行配置按本次模型配置读取。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最终实验条件：AFD 有向链路（1）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每个方向分别记录静态时延、有效带宽输入口径和链路作用域</a:t>
            </a:r>
          </a:p>
        </p:txBody>
      </p:sp>
      <p:graphicFrame>
        <p:nvGraphicFramePr>
          <p:cNvPr id="4" name="Table 3"/>
          <p:cNvGraphicFramePr>
            <a:graphicFrameLocks/>
          </p:cNvGraphicFramePr>
          <p:nvPr/>
        </p:nvGraphicFramePr>
        <p:xfrm>
          <a:off x="411480" y="1051560"/>
          <a:ext cx="11292838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330"/>
                <a:gridCol w="2858353"/>
                <a:gridCol w="1358889"/>
                <a:gridCol w="1546322"/>
                <a:gridCol w="3654944"/>
              </a:tblGrid>
              <a:tr h="513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链路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静态时延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带宽 (GB/s)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带宽口径 / scope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13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spec3/tp8/128k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attn_lpu-&gt;attn_lpu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endpoint_max / in_cabinet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13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spec3/tp8/128k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attn_lpu-&gt;attn_npu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source_card / in_cabinet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13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spec3/tp8/128k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attn_lpu-&gt;ffn_lpu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source_card / switch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13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spec3/tp8/128k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attn_npu-&gt;attn_lpu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source_card / in_cabinet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13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spec3/tp8/128k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attn_npu-&gt;ffn_lpu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source_card / switch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13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spec3/tp8/128k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ffn_lpu-&gt;attn_lpu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source_card / switch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13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spec3/tp8/128k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ffn_lpu-&gt;attn_npu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source_card / switch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13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spec7/tp8/128k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attn_lpu-&gt;attn_lpu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endpoint_max / in_cabinet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跨设备链路必须符合统一静态时延策略；TP/self 链路若存在则独立列出。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最终实验条件：AFD 有向链路（2）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每个方向分别记录静态时延、有效带宽输入口径和链路作用域</a:t>
            </a:r>
          </a:p>
        </p:txBody>
      </p:sp>
      <p:graphicFrame>
        <p:nvGraphicFramePr>
          <p:cNvPr id="4" name="Table 3"/>
          <p:cNvGraphicFramePr>
            <a:graphicFrameLocks/>
          </p:cNvGraphicFramePr>
          <p:nvPr/>
        </p:nvGraphicFramePr>
        <p:xfrm>
          <a:off x="411480" y="1051560"/>
          <a:ext cx="11292838" cy="4617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330"/>
                <a:gridCol w="2858353"/>
                <a:gridCol w="1358889"/>
                <a:gridCol w="1546322"/>
                <a:gridCol w="3654944"/>
              </a:tblGrid>
              <a:tr h="659674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链路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静态时延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带宽 (GB/s)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带宽口径 / scope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659674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spec7/tp8/128k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attn_lpu-&gt;attn_npu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source_card / in_cabinet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659674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spec7/tp8/128k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attn_lpu-&gt;ffn_lpu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source_card / switch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659674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spec7/tp8/128k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attn_npu-&gt;attn_lpu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source_card / in_cabinet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659674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spec7/tp8/128k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attn_npu-&gt;ffn_lpu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source_card / switch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659674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spec7/tp8/128k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ffn_lpu-&gt;attn_lpu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source_card / switch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659674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spec7/tp8/128k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ffn_lpu-&gt;attn_npu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source_card / switch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跨设备链路必须符合统一静态时延策略；TP/self 链路若存在则独立列出。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最终实验条件：LPU 硬件与扫描点（1）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SRAM 容量列依次为总容量 / 激活预留 / 权重预取；单位均为每 core</a:t>
            </a:r>
          </a:p>
        </p:txBody>
      </p:sp>
      <p:graphicFrame>
        <p:nvGraphicFramePr>
          <p:cNvPr id="4" name="Table 3"/>
          <p:cNvGraphicFramePr>
            <a:graphicFrameLocks/>
          </p:cNvGraphicFramePr>
          <p:nvPr/>
        </p:nvGraphicFramePr>
        <p:xfrm>
          <a:off x="182880" y="1051560"/>
          <a:ext cx="11795755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945"/>
                <a:gridCol w="1053916"/>
                <a:gridCol w="1945692"/>
                <a:gridCol w="1094451"/>
                <a:gridCol w="1702480"/>
                <a:gridCol w="1013381"/>
                <a:gridCol w="1702480"/>
                <a:gridCol w="810705"/>
                <a:gridCol w="810705"/>
              </a:tblGrid>
              <a:tr h="7696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组 / 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Cores / mesh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core_groups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SRAM 总/预留/预取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L1.5/L1 BW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预取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冗余计算 / 计算通信掩盖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扫描值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7696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l15_bandwidth_sweep/tp8/l15_bw_3.84e+11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40 / 5×8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1,2,4,8,16,32,40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4/0.5/3.5 MB/core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L1.5→L1 0.384 / L1↔REG 2 TB/s/core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 / 开启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l15_bandwidth_Bps=3.84e+11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7696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l15_bandwidth_sweep/tp8/l15_bw_5.76e+11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40 / 5×8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1,2,4,8,16,32,40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4/0.5/3.5 MB/core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L1.5→L1 0.576 / L1↔REG 2 TB/s/core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 / 开启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l15_bandwidth_Bps=5.76e+11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7696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l15_bandwidth_sweep/tp8/l15_bw_7.68e+11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40 / 5×8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1,2,4,8,16,32,40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4/0.5/3.5 MB/core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L1.5→L1 0.768 / L1↔REG 2 TB/s/core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 / 开启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l15_bandwidth_Bps=7.68e+11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7696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l15_bandwidth_sweep/tp8/l15_bw_9.6e+11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40 / 5×8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1,2,4,8,16,32,40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4/0.5/3.5 MB/core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L1.5→L1 0.96 / L1↔REG 2 TB/s/core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 / 开启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l15_bandwidth_Bps=9.6e+11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7696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l15_bandwidth_sweep/tp8/l15_bw_2e+12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40 / 5×8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1,2,4,8,16,32,40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4/0.5/3.5 MB/core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L1.5→L1 2 / L1↔REG 2 TB/s/core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 / 开启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l15_bandwidth_Bps=2e+12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只有表中“扫描值”明确指出的参数允许在同组工况间变化。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Kimi K3 A3FD DSE report</dc:title>
  <dc:subject/>
  <dc:creator>open_infer_sim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