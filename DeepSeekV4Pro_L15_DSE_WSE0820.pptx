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02920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A40000"/>
                </a:solidFill>
                <a:latin typeface="Microsoft YaHei"/>
                <a:ea typeface="Microsoft YaHei"/>
              </a:rPr>
              <a:t>A3FD 参数扫描实验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8"/>
                </a:solidFill>
                <a:latin typeface="Microsoft YaHei"/>
                <a:ea typeface="Microsoft YaHei"/>
              </a:rPr>
              <a:t>基于 FFN 服务独立映射注入联合仿真，评估 L1.5 带宽 对端到端时延的影响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467"/>
                </a:solidFill>
                <a:latin typeface="Microsoft YaHei"/>
                <a:ea typeface="Microsoft YaHei"/>
              </a:rPr>
              <a:t>代表工况 TPOT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A40000"/>
                </a:solidFill>
                <a:latin typeface="Microsoft YaHei"/>
                <a:ea typeface="Microsoft YaHei"/>
              </a:rPr>
              <a:t>0.6897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58568"/>
            <a:ext cx="25603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Spec 1+3 与 Spec 1+7 中最低点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572768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467"/>
                </a:solidFill>
                <a:latin typeface="Microsoft YaHei"/>
                <a:ea typeface="Microsoft YaHei"/>
              </a:rPr>
              <a:t>五层联合仿真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8470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4EA6"/>
                </a:solidFill>
                <a:latin typeface="Microsoft YaHei"/>
                <a:ea typeface="Microsoft YaHei"/>
              </a:rPr>
              <a:t>252.166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258568"/>
            <a:ext cx="25603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Attention 与 FFN 服务同一时间轴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572768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467"/>
                </a:solidFill>
                <a:latin typeface="Microsoft YaHei"/>
                <a:ea typeface="Microsoft YaHei"/>
              </a:rPr>
              <a:t>FFN 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470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F766E"/>
                </a:solidFill>
                <a:latin typeface="Microsoft YaHei"/>
                <a:ea typeface="Microsoft YaHei"/>
              </a:rPr>
              <a:t>2.521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58568"/>
            <a:ext cx="25603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独立映射后注入联合调度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572768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467"/>
                </a:solidFill>
                <a:latin typeface="Microsoft YaHei"/>
                <a:ea typeface="Microsoft YaHei"/>
              </a:rPr>
              <a:t>预取 SRAM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18470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4EA6"/>
                </a:solidFill>
                <a:latin typeface="Microsoft YaHei"/>
                <a:ea typeface="Microsoft YaHei"/>
              </a:rPr>
              <a:t>3.5 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258568"/>
            <a:ext cx="25603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每 core 可用于权重预取的容量</a:t>
            </a:r>
          </a:p>
        </p:txBody>
      </p:sp>
      <p:graphicFrame>
        <p:nvGraphicFramePr>
          <p:cNvPr id="16" name="Table 15"/>
          <p:cNvGraphicFramePr>
            <a:graphicFrameLocks/>
          </p:cNvGraphicFramePr>
          <p:nvPr/>
        </p:nvGraphicFramePr>
        <p:xfrm>
          <a:off x="731520" y="2743200"/>
          <a:ext cx="1069848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3810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FFN服务(us)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五层时延(us)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ITL(ms)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预取SRAM(MB)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 1+3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2.521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202.829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3.3166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0.9644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 1+7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2.521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252.166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3.9281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0.6897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FFN 服务时延来自独立映射结果，不再只保留为联合仿真中的固定时延节点。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TPOT 由前五层 HCA/CSA 时延外推，并加入 detail 中配置的投机开销与接受率。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L1.5 带宽扫描：最佳点 TPOT 0.6897 ms/token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横轴为每 core L1.5→L1 带宽；L1 带宽、DRAM 带宽和两块 SRAM 容量保持不变；本次包含 Spec 1+3 与 Spec 1+7</a:t>
            </a:r>
          </a:p>
        </p:txBody>
      </p:sp>
      <p:pic>
        <p:nvPicPr>
          <p:cNvPr id="4" name="Picture 3" descr="tpot_vs_l15_bandwidth_spec3_spe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6492240" cy="43434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/>
          </p:cNvGraphicFramePr>
          <p:nvPr/>
        </p:nvGraphicFramePr>
        <p:xfrm>
          <a:off x="7059168" y="1024128"/>
          <a:ext cx="4800600" cy="2560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L1.5带宽 (GB/s/core)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五层总时延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五层FFN总耗时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exposed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断点 (次)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0.7689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288.128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13.995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7.239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0.7579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283.022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12.992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0.7170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264.032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12.605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0.354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0.6969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255.278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12.605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1.182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0.6906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252.557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12.604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1.594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0.6897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252.166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12.603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1.639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1.0990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239.325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13.995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8.087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1.0780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233.419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12.992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1.0099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214.810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12.605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0.545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0.9766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206.034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12.605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1.715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0.9662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203.275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12.604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2.017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96947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0.9644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202.829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12.603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2.069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本组固定 L1=2 TB/s/core；所有 prefetchable 权重都支付 L1.5→L1 服务时间。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本组固定 DRAM=384 GB/s/core、总 SRAM=4 MB/core；monotonic envelope 保证已发现路径不会随带宽提升而退化。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关闭预取为相同硬件条件下的独立搜索对照，不属于 L1.5 monotonic envelope。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1+7 时间拆分：ATTN_LPU、FFN_LPU、DV 与 UB 通信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时间单位为 μs，括号为该项 / total；外部计算归入 DV，Attention-Aux AllReduce 单列为 UB 承载的 TP 通信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411480" y="1051560"/>
          <a:ext cx="11292836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382"/>
                <a:gridCol w="888200"/>
                <a:gridCol w="1099677"/>
                <a:gridCol w="1099677"/>
                <a:gridCol w="972791"/>
                <a:gridCol w="1268858"/>
                <a:gridCol w="1268858"/>
                <a:gridCol w="1522630"/>
                <a:gridCol w="1268858"/>
                <a:gridCol w="845905"/>
              </a:tblGrid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总时间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Cube 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Vector 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NOC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exposed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breaks (次)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288.128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38.4(13%)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3.36(1%)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21.1(7%)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96.3(33%)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87.8(30%)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29.8(10%)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7.24(3%)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283.022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38.4(14%)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3.32(1%)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21.3(8%)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93.5(33%)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88.2(31%)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29.8(11%)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0(0%)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576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264.032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38.6(15%)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3.26(1%)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21.3(8%)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91.1(35%)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59.1(22%)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29.9(11%)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0.354(0%)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255.278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38.6(15%)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3.26(1%)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21.3(8%)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90.3(35%)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44.3(17%)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29.9(12%)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1.18(0%)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960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252.557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38.6(15%)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3.26(1%)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21.3(8%)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90.3(36%)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35.5(14%)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29.9(12%)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1.59(1%)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252.166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38.6(15%)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3.26(1%)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21.3(8%)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89.9(36%)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17.0(7%)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29.9(12%)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1.64(1%)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/>
          </p:cNvGraphicFramePr>
          <p:nvPr/>
        </p:nvGraphicFramePr>
        <p:xfrm>
          <a:off x="411480" y="3246120"/>
          <a:ext cx="1129283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791"/>
                <a:gridCol w="761315"/>
                <a:gridCol w="676724"/>
                <a:gridCol w="930496"/>
                <a:gridCol w="930496"/>
                <a:gridCol w="719019"/>
                <a:gridCol w="761315"/>
                <a:gridCol w="1226563"/>
                <a:gridCol w="972791"/>
                <a:gridCol w="845905"/>
                <a:gridCol w="761315"/>
                <a:gridCol w="888200"/>
                <a:gridCol w="845905"/>
              </a:tblGrid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DV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UB通信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UB通信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UB通信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结果指标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结果指标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结果指标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NOC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TP通信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dispatch/combine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LPU-DV通信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HCA avg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CSA avg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(μs/token)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11.6(4%)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0.0766(0%)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13.6(5%)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2.73(1%)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80.4(28%)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7.96(3%)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46.7(16%)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85.4(30%)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53.0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64.5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11.6(4%)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0.0766(0%)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12.6(4%)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12.6(4%)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2.73(1%)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80.4(28%)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7.96(3%)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46.7(17%)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85.4(30%)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52.0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63.5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758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576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11.6(4%)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0.0766(0%)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8.38(3%)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2.73(1%)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80.4(30%)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7.96(3%)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46.7(18%)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85.4(32%)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47.8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60.1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717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11.6(5%)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0.0766(0%)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6.28(2%)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2.73(1%)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80.4(31%)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7.96(3%)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46.7(18%)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85.4(33%)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45.7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58.4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697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960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11.4(5%)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0.345(0%)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5.03(2%)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2.72(1%)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80.4(32%)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7.96(3%)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46.7(18%)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85.4(34%)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45.0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57.9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691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11.4(5%)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0.345(0%)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2.41(1%)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2.72(1%)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80.4(32%)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7.96(3%)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46.7(19%)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85.4(34%)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44.9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57.8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690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144768"/>
            <a:ext cx="10972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</a:rPr>
              <a:t>FFN_LPU 四项由单次服务原始算子明细逐项求和，并按五层服务次数展开；compute、NOC 与存储服务可重叠。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</a:rPr>
              <a:t>TP AllReduce 由 ATTN_LPU 发起但由 UB 承载；TPOT 直接沿用联合仿真外推结果。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1+3 时间拆分：ATTN_LPU、FFN_LPU、DV 与 UB 通信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时间单位为 μs，括号为该项 / total；外部计算归入 DV，Attention-Aux AllReduce 单列为 UB 承载的 TP 通信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411480" y="1051560"/>
          <a:ext cx="11292836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382"/>
                <a:gridCol w="888200"/>
                <a:gridCol w="1099677"/>
                <a:gridCol w="1099677"/>
                <a:gridCol w="972791"/>
                <a:gridCol w="1268858"/>
                <a:gridCol w="1268858"/>
                <a:gridCol w="1522630"/>
                <a:gridCol w="1268858"/>
                <a:gridCol w="845905"/>
              </a:tblGrid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总时间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Cube 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Vector 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NOC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exposed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breaks (次)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239.325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38.4(16%)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1.82(1%)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13.2(6%)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96.2(40%)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87.7(37%)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23.3(10%)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8.09(3%)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233.419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38.4(16%)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1.81(1%)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13.3(6%)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93.1(40%)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88.1(38%)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23.4(10%)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0(0%)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576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214.810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38.4(18%)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1.79(1%)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13.8(6%)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89.6(42%)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58.7(27%)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23.4(11%)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0.545(0%)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206.034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38.3(19%)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1.74(1%)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14.2(7%)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88.9(43%)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43.9(21%)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23.3(11%)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1.71(1%)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960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203.275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38.5(19%)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1.72(1%)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14.0(7%)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89.4(44%)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35.3(17%)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23.4(12%)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2.02(1%)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202.829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38.5(19%)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1.72(1%)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14.0(7%)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89.4(44%)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17.0(8%)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23.4(12%)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2.07(1%)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/>
          </p:cNvGraphicFramePr>
          <p:nvPr/>
        </p:nvGraphicFramePr>
        <p:xfrm>
          <a:off x="411480" y="3246120"/>
          <a:ext cx="1129283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791"/>
                <a:gridCol w="761315"/>
                <a:gridCol w="676724"/>
                <a:gridCol w="930496"/>
                <a:gridCol w="930496"/>
                <a:gridCol w="719019"/>
                <a:gridCol w="761315"/>
                <a:gridCol w="1226563"/>
                <a:gridCol w="972791"/>
                <a:gridCol w="845905"/>
                <a:gridCol w="761315"/>
                <a:gridCol w="888200"/>
                <a:gridCol w="845905"/>
              </a:tblGrid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DV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UB通信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UB通信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UB通信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结果指标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结果指标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结果指标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NOC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 total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compute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TP通信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dispatch/combine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LPU-DV通信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HCA avg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CSA avg (μs)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(μs/token)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11.6(5%)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0.0766(0%)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13.6(6%)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2.73(1%)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57.7(24%)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6.48(3%)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33.4(14%)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76.7(32%)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43.6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54.3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1099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11.6(5%)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0.0766(0%)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2.73(1%)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57.7(25%)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6.48(3%)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33.4(14%)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76.7(33%)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42.4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53.0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1078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576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11.6(5%)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0.0766(0%)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8.38(4%)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2.73(1%)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57.7(27%)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6.48(3%)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33.4(16%)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76.7(36%)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38.2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49.7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1010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768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11.6(6%)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0.0766(0%)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6.28(3%)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2.73(1%)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57.7(28%)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6.48(3%)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33.4(16%)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76.7(37%)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36.1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48.0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977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960 GB/s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11.4(6%)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0.345(0%)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5.03(2%)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2.72(1%)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57.7(28%)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6.48(3%)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33.4(16%)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76.7(38%)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35.4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47.5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514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2000 GB/s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11.4(6%)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0.345(0%)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12.6(6%)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2.41(1%)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2.72(1%)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57.7(28%)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6.48(3%)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33.4(16%)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76.7(38%)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35.3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47.4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964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144768"/>
            <a:ext cx="109728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</a:rPr>
              <a:t>FFN_LPU 四项由单次服务原始算子明细逐项求和，并按五层服务次数展开；compute、NOC 与存储服务可重叠。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01828"/>
                </a:solidFill>
                <a:latin typeface="Microsoft YaHei"/>
                <a:ea typeface="Microsoft YaHei"/>
              </a:rPr>
              <a:t>TP AllReduce 由 ATTN_LPU 发起但由 UB 承载；LPU-DV通信不包含该项。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1+7 L1.5 带宽：联合泳道对比（1/2）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左侧 关闭预取（384 GB/s/core）；右侧 开启预取（384 GB/s/core）；固定 SRAM=4 MB/core，L1 0.5 MB/core、L1.5 3.5 MB/core；DRAM 384 GB/s/core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关闭预取（384 GB/s/core）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7648" y="932688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开启预取（384 GB/s/core）</a:t>
            </a:r>
          </a:p>
        </p:txBody>
      </p:sp>
      <p:pic>
        <p:nvPicPr>
          <p:cNvPr id="6" name="Picture 5" descr="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pic>
        <p:nvPicPr>
          <p:cNvPr id="7" name="Picture 6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1325880" y="4800600"/>
          <a:ext cx="9509760" cy="749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1901952"/>
                <a:gridCol w="1901952"/>
                <a:gridCol w="1901952"/>
                <a:gridCol w="1901952"/>
              </a:tblGrid>
              <a:tr h="24993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五层(us)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暴露DRAM(us)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断点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4993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关闭预取（384 GB/s/core）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288.128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7.239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0.7689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4993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开启预取（384 GB/s/core）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283.022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53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0.7579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第一页在相同 384 GB/s/core 硬件上隔离预取开关；关闭预取仍保留算子内部同步 tile 流水。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开启预取点来自同一 monotonic sweep；独立搜索结果与路径回放包络同时保存在 summary 中。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1+7 L1.5 带宽：联合泳道对比（2/2）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左侧 开启预取（768 GB/s/core）；右侧 开启预取（2000 GB/s/core）；固定 SRAM=4 MB/core，L1 0.5 MB/core、L1.5 3.5 MB/core；DRAM 384 GB/s/core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开启预取（768 GB/s/core）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7648" y="932688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开启预取（2000 GB/s/core）</a:t>
            </a:r>
          </a:p>
        </p:txBody>
      </p:sp>
      <p:pic>
        <p:nvPicPr>
          <p:cNvPr id="6" name="Picture 5" descr="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pic>
        <p:nvPicPr>
          <p:cNvPr id="7" name="Picture 6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1325880" y="4800600"/>
          <a:ext cx="9509760" cy="749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1901952"/>
                <a:gridCol w="1901952"/>
                <a:gridCol w="1901952"/>
                <a:gridCol w="1901952"/>
              </a:tblGrid>
              <a:tr h="24993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五层(us)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暴露DRAM(us)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断点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4993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开启预取（768 GB/s/core）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255.278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1.182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0.6969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4993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开启预取（2000 GB/s/core）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252.166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1.639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0.6897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L1.5 带宽扫描只改变预取权重的 L1.5→L1 服务时间；两块 SRAM 容量、另一层 SRAM 带宽和 DRAM 带宽保持不变。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开启预取点来自同一 monotonic sweep；独立搜索结果与路径回放包络同时保存在 summary 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1+3 L1.5 带宽：联合泳道对比（1/2）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左侧 关闭预取（384 GB/s/core）；右侧 开启预取（384 GB/s/core）；固定 SRAM=4 MB/core，L1 0.5 MB/core、L1.5 3.5 MB/core；DRAM 384 GB/s/core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关闭预取（384 GB/s/core）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7648" y="932688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开启预取（384 GB/s/core）</a:t>
            </a:r>
          </a:p>
        </p:txBody>
      </p:sp>
      <p:pic>
        <p:nvPicPr>
          <p:cNvPr id="6" name="Picture 5" descr="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pic>
        <p:nvPicPr>
          <p:cNvPr id="7" name="Picture 6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1325880" y="4800600"/>
          <a:ext cx="9509760" cy="749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1901952"/>
                <a:gridCol w="1901952"/>
                <a:gridCol w="1901952"/>
                <a:gridCol w="1901952"/>
              </a:tblGrid>
              <a:tr h="24993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五层(us)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暴露DRAM(us)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断点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4993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关闭预取（384 GB/s/core）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239.325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8.087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85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1.0990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4993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开启预取（384 GB/s/core）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233.419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0.000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1.0780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第一页在相同 384 GB/s/core 硬件上隔离预取开关；关闭预取仍保留算子内部同步 tile 流水。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开启预取点来自同一 monotonic sweep；独立搜索结果与路径回放包络同时保存在 summary 中。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1+3 L1.5 带宽：联合泳道对比（2/2）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左侧 开启预取（768 GB/s/core）；右侧 开启预取（2000 GB/s/core）；固定 SRAM=4 MB/core，L1 0.5 MB/core、L1.5 3.5 MB/core；DRAM 384 GB/s/core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开启预取（768 GB/s/core）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7648" y="932688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开启预取（2000 GB/s/core）</a:t>
            </a:r>
          </a:p>
        </p:txBody>
      </p:sp>
      <p:pic>
        <p:nvPicPr>
          <p:cNvPr id="6" name="Picture 5" descr="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pic>
        <p:nvPicPr>
          <p:cNvPr id="7" name="Picture 6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1325880" y="4800600"/>
          <a:ext cx="9509760" cy="749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1901952"/>
                <a:gridCol w="1901952"/>
                <a:gridCol w="1901952"/>
                <a:gridCol w="1901952"/>
              </a:tblGrid>
              <a:tr h="24993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五层(us)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暴露DRAM(us)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断点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4993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开启预取（768 GB/s/core）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206.034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1.715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0.9766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4993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开启预取（2000 GB/s/core）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202.829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2.069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0.9644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L1.5 带宽扫描只改变预取权重的 L1.5→L1 服务时间；两块 SRAM 容量、另一层 SRAM 带宽和 DRAM 带宽保持不变。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开启预取点来自同一 monotonic sweep；独立搜索结果与路径回放包络同时保存在 summary 中。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1+7 L1.5带宽端点：FFN 服务独立映射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同为 384 GB/s/core，仅切换异步预取；图片按 mapper 绝对时间由当前 FFN CSV/trace 重画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关闭预取（仅同步 tile 流水）</a:t>
            </a:r>
          </a:p>
        </p:txBody>
      </p:sp>
      <p:pic>
        <p:nvPicPr>
          <p:cNvPr id="5" name="Picture 4" descr="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9632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开启预取（384 GB/s/core）</a:t>
            </a:r>
          </a:p>
        </p:txBody>
      </p:sp>
      <p:pic>
        <p:nvPicPr>
          <p:cNvPr id="7" name="Picture 6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1325880" y="4782312"/>
          <a:ext cx="950976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1901952"/>
                <a:gridCol w="1901952"/>
                <a:gridCol w="1901952"/>
                <a:gridCol w="1901952"/>
              </a:tblGrid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单次FFN服务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五层FFN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五层总时延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no_prefetch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2.799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13.995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288.128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0.7689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l15_bw384GBps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2.598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12.992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283.022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0.7579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关闭预取表示没有跨算子的异步权重预取；算子内部 L2→L1.5→L1 tile 流水仍按因果关系重放。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FFN 服务是注入联合图的独立映射结果；资源时间可以重叠，不能直接相加重建墙钟时延。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1+7 L1.5带宽端点：Activation SRAM 占用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与联合、FFN 页采用同一对工况；曲线由当前 activation trace 重画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no_prefetch</a:t>
            </a:r>
          </a:p>
        </p:txBody>
      </p:sp>
      <p:pic>
        <p:nvPicPr>
          <p:cNvPr id="5" name="Picture 4" descr="activation_sram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9632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l15_bw384GBps</a:t>
            </a:r>
          </a:p>
        </p:txBody>
      </p:sp>
      <p:pic>
        <p:nvPicPr>
          <p:cNvPr id="7" name="Picture 6" descr="activation_sram_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1828800" y="4782312"/>
          <a:ext cx="85039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Activation buffer (MB/core)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五层总时延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no_prefetch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0.500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288.128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0.7689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l15_bw384GBps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0.500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283.022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0.7579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该图只展示 activation/resident SRAM；权重预取缓冲区由 L1.5 trace 单独审计。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1+3 L1.5带宽端点：FFN 服务独立映射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同为 384 GB/s/core，仅切换异步预取；图片按 mapper 绝对时间由当前 FFN CSV/trace 重画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关闭预取（仅同步 tile 流水）</a:t>
            </a:r>
          </a:p>
        </p:txBody>
      </p:sp>
      <p:pic>
        <p:nvPicPr>
          <p:cNvPr id="5" name="Picture 4" descr="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9632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开启预取（384 GB/s/core）</a:t>
            </a:r>
          </a:p>
        </p:txBody>
      </p:sp>
      <p:pic>
        <p:nvPicPr>
          <p:cNvPr id="7" name="Picture 6" descr="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1325880" y="4782312"/>
          <a:ext cx="950976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1901952"/>
                <a:gridCol w="1901952"/>
                <a:gridCol w="1901952"/>
                <a:gridCol w="1901952"/>
              </a:tblGrid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单次FFN服务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五层FFN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五层总时延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no_prefetch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2.799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13.995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239.325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1.0990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l15_bw384GBps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2.598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12.992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233.419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1.0780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关闭预取表示没有跨算子的异步权重预取；算子内部 L2→L1.5→L1 tile 流水仍按因果关系重放。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FFN 服务是注入联合图的独立映射结果；资源时间可以重叠，不能直接相加重建墙钟时延。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Spec 1+3 L1.5带宽端点：Activation SRAM 占用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与联合、FFN 页采用同一对工况；曲线由当前 activation trace 重画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no_prefetch</a:t>
            </a:r>
          </a:p>
        </p:txBody>
      </p:sp>
      <p:pic>
        <p:nvPicPr>
          <p:cNvPr id="5" name="Picture 4" descr="activation_sram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16152"/>
            <a:ext cx="571500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9632" y="932688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1828"/>
                </a:solidFill>
                <a:latin typeface="Microsoft YaHei"/>
                <a:ea typeface="Microsoft YaHei"/>
              </a:rPr>
              <a:t>l15_bw384GBps</a:t>
            </a:r>
          </a:p>
        </p:txBody>
      </p:sp>
      <p:pic>
        <p:nvPicPr>
          <p:cNvPr id="7" name="Picture 6" descr="activation_sram_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16152"/>
            <a:ext cx="5715000" cy="33375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/>
          </p:cNvGraphicFramePr>
          <p:nvPr/>
        </p:nvGraphicFramePr>
        <p:xfrm>
          <a:off x="1828800" y="4782312"/>
          <a:ext cx="85039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Activation buffer (MB/core)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五层总时延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TPOT (ms/token)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no_prefetch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0.500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239.325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1.0990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l15_bw384GBps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0.500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233.419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1.0780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该图只展示 activation/resident SRAM；权重预取缓冲区由 L1.5 trace 单独审计。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实验结论：先审计 FFN 服务，再判断联合时序瓶颈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所有结论来自同一组自动生成的 summary、breakdown 和趋势图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070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1828"/>
                </a:solidFill>
                <a:latin typeface="Microsoft YaHei"/>
                <a:ea typeface="Microsoft YaHei"/>
              </a:rPr>
              <a:t>FFN 服务链路已从联合仿真中的黑盒固定时延，拆成可导出的独立映射结果。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1828"/>
                </a:solidFill>
                <a:latin typeface="Microsoft YaHei"/>
                <a:ea typeface="Microsoft YaHei"/>
              </a:rPr>
              <a:t>本次报告包含 Spec 1+3 与 Spec 1+7 的原始汇总、时间拆分与趋势数据。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1828"/>
                </a:solidFill>
                <a:latin typeface="Microsoft YaHei"/>
                <a:ea typeface="Microsoft YaHei"/>
              </a:rPr>
              <a:t>L1.5 带宽扫描用于判断预取权重从 L1.5 搬入 L1 的新增流水是否限制端到端性能。</a:t>
            </a:r>
          </a:p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8"/>
                </a:solidFill>
                <a:latin typeface="Microsoft YaHei"/>
                <a:ea typeface="Microsoft YaHei"/>
              </a:rPr>
              <a:t>建议同时审计绝对时延、资源时间拆分和代表工况泳道图。</a:t>
            </a:r>
          </a:p>
        </p:txBody>
      </p:sp>
      <p:graphicFrame>
        <p:nvGraphicFramePr>
          <p:cNvPr id="5" name="Table 4"/>
          <p:cNvGraphicFramePr>
            <a:graphicFrameLocks/>
          </p:cNvGraphicFramePr>
          <p:nvPr/>
        </p:nvGraphicFramePr>
        <p:xfrm>
          <a:off x="914400" y="3886200"/>
          <a:ext cx="1014984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4920"/>
                <a:gridCol w="5074920"/>
              </a:tblGrid>
              <a:tr h="33147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自动产物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用途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3147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逐工况汇总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审计时延、访存与 TPOT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3147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时间拆分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核对设备与通信资源时间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33147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趋势图与泳道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核对扫描趋势和代表时序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最终实验条件：模型、搜索与产物策略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该清单与运行前确认使用同一份权威数据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685800" y="1143000"/>
          <a:ext cx="10835639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972"/>
                <a:gridCol w="8453667"/>
              </a:tblGrid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条件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取值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模型 / preset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deepseek_v4_pro / l15-bandwidth-sweep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 / context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spec3_tp2, spec7_tp2 / 1048576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采样层 / 调度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5 layers / early-q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搜索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diverse；beam=128, bucket=2, ratio=0.5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各组实际 Sweep 搜索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l15_bandwidth_sweep=monotonic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并发 / 复用校验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workers=1；复用与汇总均要求 manifest/条件指纹完全一致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54355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图表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plot=True；activation trace=True；state band=0 MB/core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所有表项均来自本次运行实际使用的模型、搜索、绘图和结果设置。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最终实验条件：模型配置、投机策略、芯片与链路（1）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同一实验中未声明为扫描轴的字段必须一致；不允许某些工况漏加 drafter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228600" y="1078992"/>
          <a:ext cx="11750037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275"/>
                <a:gridCol w="1474701"/>
                <a:gridCol w="1664985"/>
                <a:gridCol w="1855269"/>
                <a:gridCol w="1855269"/>
                <a:gridCol w="2045553"/>
                <a:gridCol w="1664985"/>
              </a:tblGrid>
              <a:tr h="15087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 / Seq / BS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DV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Drafter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接受率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5087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1+3 / 1048576 / 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B200-1 ×1; A=1×1; M=1×1×1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F100 ×2; A=1×2; M=2×1×1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F100 ×384; A=384×1; M=1×1×384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0.8+0×3=0.8 ms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0.9 / E[token]=3.4390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150876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1+7 / 1048576 / 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B200-1 ×1; A=1×1; M=1×1×1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F100 ×2; A=1×2; M=2×1×1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F100 ×384; A=384×1; M=1×1×384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0.8+0×7=0.8 ms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0.9 / E[token]=5.6950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Drafter 显示 base + per-step × spec_steps；芯片角色与并行配置按本次模型配置读取。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最终实验条件：AFD 有向链路（1）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每个方向分别记录静态时延、有效带宽输入口径和链路作用域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411480" y="1051560"/>
          <a:ext cx="11292838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330"/>
                <a:gridCol w="2858353"/>
                <a:gridCol w="1358889"/>
                <a:gridCol w="1546322"/>
                <a:gridCol w="3654944"/>
              </a:tblGrid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链路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静态时延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带宽 (GB/s)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带宽口径 / scope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attn_lpu-&gt;attn_lpu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endpoint_max / in_cabinet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attn_lpu-&gt;attn_npu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in_cabinet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attn_lpu-&gt;ffn_lpu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shared / switch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attn_npu-&gt;attn_lpu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destination_card / in_cabinet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attn_npu-&gt;ffn_lpu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shared / switch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ffn_lpu-&gt;attn_lpu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shared / switch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spec3/tp2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ffn_lpu-&gt;attn_npu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shared / switch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5130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attn_lpu-&gt;attn_lpu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endpoint_max / in_cabinet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跨设备链路必须符合统一静态时延策略；TP/self 链路若存在则独立列出。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最终实验条件：AFD 有向链路（2）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每个方向分别记录静态时延、有效带宽输入口径和链路作用域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411480" y="1051560"/>
          <a:ext cx="11292838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330"/>
                <a:gridCol w="2858353"/>
                <a:gridCol w="1358889"/>
                <a:gridCol w="1546322"/>
                <a:gridCol w="3654944"/>
              </a:tblGrid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链路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静态时延 (μs)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带宽 (GB/s)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带宽口径 / scope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attn_lpu-&gt;attn_npu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source_card / in_cabinet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attn_lpu-&gt;ffn_lpu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shared / switch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attn_npu-&gt;attn_lpu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destination_card / in_cabinet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attn_npu-&gt;ffn_lpu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shared / switch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ffn_lpu-&gt;attn_lpu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3.2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1200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shared / switch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65967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spec7/tp2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ffn_lpu-&gt;attn_npu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200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shared / switch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跨设备链路必须符合统一静态时延策略；TP/self 链路若存在则独立列出。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0000"/>
                </a:solidFill>
                <a:latin typeface="Microsoft YaHei"/>
                <a:ea typeface="Microsoft YaHei"/>
              </a:rPr>
              <a:t>最终实验条件：LPU 硬件与扫描点（1）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467"/>
                </a:solidFill>
                <a:latin typeface="Microsoft YaHei"/>
                <a:ea typeface="Microsoft YaHei"/>
              </a:rPr>
              <a:t>SRAM 容量列依次为总容量 / 激活预留 / 权重预取；单位均为每 core</a:t>
            </a:r>
          </a:p>
        </p:txBody>
      </p:sp>
      <p:graphicFrame>
        <p:nvGraphicFramePr>
          <p:cNvPr id="4" name="Table 3"/>
          <p:cNvGraphicFramePr>
            <a:graphicFrameLocks/>
          </p:cNvGraphicFramePr>
          <p:nvPr/>
        </p:nvGraphicFramePr>
        <p:xfrm>
          <a:off x="182880" y="1051560"/>
          <a:ext cx="11795755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945"/>
                <a:gridCol w="1053916"/>
                <a:gridCol w="1945692"/>
                <a:gridCol w="1094451"/>
                <a:gridCol w="1702480"/>
                <a:gridCol w="1013381"/>
                <a:gridCol w="1702480"/>
                <a:gridCol w="810705"/>
                <a:gridCol w="810705"/>
              </a:tblGrid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组 / 工况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Cores / mesh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core_groups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SRAM 总/预留/预取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L1.5/L1 BW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DRAM 预取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冗余计算 / 计算通信掩盖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扫描值</a:t>
                      </a:r>
                    </a:p>
                  </a:txBody>
                  <a:tcPr marL="45720" marR="45720" marT="22860" marB="22860" anchor="ctr">
                    <a:solidFill>
                      <a:srgbClr val="E5E7E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l15_bandwidth_sweep/l15_bw384GBps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 / 5×8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1,2,4,8,16,32,40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4/0.5/3.5 MB/core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L1.5→L1 0.384 / L1↔REG 2 TB/s/core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 / 开启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BW=384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l15_bandwidth_sweep/l15_bw576GBps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 / 5×8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1,2,4,8,16,32,40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4/0.5/3.5 MB/core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L1.5→L1 0.576 / L1↔REG 2 TB/s/core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 / 开启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BW=576 GB/s/core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l15_bandwidth_sweep/l15_bw768GBps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 / 5×8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1,2,4,8,16,32,40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4/0.5/3.5 MB/core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L1.5→L1 0.768 / L1↔REG 2 TB/s/core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 / 开启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BW=768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l15_bandwidth_sweep/l15_bw960GBps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 / 5×8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1,2,4,8,16,32,40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4/0.5/3.5 MB/core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L1.5→L1 0.96 / L1↔REG 2 TB/s/core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 / 开启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BW=960 GB/s/core</a:t>
                      </a:r>
                    </a:p>
                  </a:txBody>
                  <a:tcPr marL="45720" marR="45720" marT="22860" marB="22860" anchor="ctr">
                    <a:solidFill>
                      <a:srgbClr val="F9FAFB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  <a:tr h="7696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l15_bandwidth_sweep/l15_bw2000GBps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40 / 5×8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1,2,4,8,16,32,40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384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4/0.5/3.5 MB/core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L1.5→L1 2 / L1↔REG 2 TB/s/core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开启 / 开启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</a:rPr>
                        <a:t>L1.5 BW=2000 GB/s/core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  <a:lnL w="6350">
                      <a:solidFill>
                        <a:srgbClr val="D1D5DB"/>
                      </a:solidFill>
                      <a:prstDash val="solid"/>
                    </a:lnL>
                    <a:lnR w="6350">
                      <a:solidFill>
                        <a:srgbClr val="D1D5DB"/>
                      </a:solidFill>
                      <a:prstDash val="solid"/>
                    </a:lnR>
                    <a:lnT w="6350">
                      <a:solidFill>
                        <a:srgbClr val="D1D5DB"/>
                      </a:solidFill>
                      <a:prstDash val="solid"/>
                    </a:lnT>
                    <a:lnB w="6350">
                      <a:solidFill>
                        <a:srgbClr val="D1D5D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8064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168" indent="-109728">
              <a:buChar char="•"/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YaHei"/>
                <a:ea typeface="Microsoft YaHei"/>
              </a:rPr>
              <a:t>只有表中“扫描值”明确指出的参数允许在同组工况间变化。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A3FD FFN service experiment report</dc:title>
  <dc:subject/>
  <dc:creator>open_infer_sim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