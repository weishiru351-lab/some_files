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A40000"/>
                </a:solidFill>
                <a:latin typeface="Microsoft YaHei"/>
                <a:ea typeface="Microsoft YaHei"/>
              </a:rPr>
              <a:t>Kimi K3 A3FD 参数扫描实验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8"/>
                </a:solidFill>
                <a:latin typeface="Microsoft YaHei"/>
                <a:ea typeface="Microsoft YaHei"/>
              </a:rPr>
              <a:t>Spec 1+3 / Spec 1+7 · 单 core L1.5 带宽 · monotonic envelope + 独立搜索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代表工况 TPOT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40000"/>
                </a:solidFill>
                <a:latin typeface="Microsoft YaHei"/>
                <a:ea typeface="Microsoft YaHei"/>
              </a:rPr>
              <a:t>1.0705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最低点：2000 GB/s/core · TP8/128k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五层联合仿真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EA6"/>
                </a:solidFill>
                <a:latin typeface="Microsoft YaHei"/>
                <a:ea typeface="Microsoft YaHei"/>
              </a:rPr>
              <a:t>257.268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4 层 KDA + 1 层 MLA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FFN 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897B"/>
                </a:solidFill>
                <a:latin typeface="Microsoft YaHei"/>
                <a:ea typeface="Microsoft YaHei"/>
              </a:rPr>
              <a:t>1.329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单次独立映射服务时延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预取 SRAM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EA6"/>
                </a:solidFill>
                <a:latin typeface="Microsoft YaHei"/>
                <a:ea typeface="Microsoft YaHei"/>
              </a:rPr>
              <a:t>3.5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每 core 可用于权重预取</a:t>
            </a:r>
          </a:p>
        </p:txBody>
      </p:sp>
      <p:graphicFrame>
        <p:nvGraphicFramePr>
          <p:cNvPr id="16" name="Table 15"/>
          <p:cNvGraphicFramePr>
            <a:graphicFrameLocks/>
          </p:cNvGraphicFramePr>
          <p:nvPr/>
        </p:nvGraphicFramePr>
        <p:xfrm>
          <a:off x="731520" y="2743200"/>
          <a:ext cx="106984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FFN服务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ITL (ms)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预取SRAM (MB)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1.329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257.268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6.0966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1.0705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FFN 服务时延来自独立映射结果，并按五层服务节点注入联合仿真。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TPOT 使用通用 metrics 口径从五层 KDA/MLA 外推，并加入配置中的投机开销与接受率。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单 core L1.5 带宽扫描：最佳点 TPOT 1.0705 ms/token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横轴为该组扫描参数；其他配置保持不变</a:t>
            </a:r>
          </a:p>
        </p:txBody>
      </p:sp>
      <p:pic>
        <p:nvPicPr>
          <p:cNvPr id="4" name="Picture 3" descr="report_l15_bandwidth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5806440" cy="42976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6291072" y="1060704"/>
          <a:ext cx="5532116" cy="3977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113"/>
                <a:gridCol w="898378"/>
                <a:gridCol w="992944"/>
                <a:gridCol w="851095"/>
                <a:gridCol w="756529"/>
                <a:gridCol w="1040227"/>
                <a:gridCol w="472830"/>
              </a:tblGrid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单 core L1.5 带宽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</a:t>
                      </a:r>
                      <a:br/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五层总时延</a:t>
                      </a:r>
                      <a:br/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</a:t>
                      </a:r>
                      <a:br/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</a:t>
                      </a:r>
                      <a:br/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  <a:br/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(次)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1.6526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246.730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7.868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8.878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1.6014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237.154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6.864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0.607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1.4387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208.456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6.649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1.643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1.3575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194.885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6.648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3.171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1.3087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187.101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6.647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4.204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1.2294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174.695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6.646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1.3114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327.753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7.868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8.281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1.2856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319.722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6.864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1.214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1.1859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289.480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6.649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1.248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1.1370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275.896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6.648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2.744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1.1077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267.795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6.647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3.670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1.0705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257.268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6.646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4.194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表中 DRAM exposed 为逐算子 max(0, visible DRAM − max(SRAM, compute)) 的五层求和。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该组使用 monotonic envelope：同时保留独立搜索结果，并回放既有路径选择非退化包络。 关闭预取为相同硬件条件下的独立搜索对照，不属于该包络。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时间拆分：ATTN_LPU、FFN_LPU、DV 与 UB 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时间单位为 μs，括号为该项 / total；compute、NOC 与存储服务可重叠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82"/>
                <a:gridCol w="888200"/>
                <a:gridCol w="1099677"/>
                <a:gridCol w="1099677"/>
                <a:gridCol w="972791"/>
                <a:gridCol w="1268858"/>
                <a:gridCol w="1268858"/>
                <a:gridCol w="1522630"/>
                <a:gridCol w="1268858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总时间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Cube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Vector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breaks (次)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246.730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20.341 (8.2%)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9.037 (3.7%)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13.959 (5.7%)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107.604 (43.6%)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92.619 (37.5%)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22.981 (9.3%)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8.878 (3.6%)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237.154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20.320 (8.6%)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8.830 (3.7%)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14.100 (5.9%)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102.519 (43.2%)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92.735 (39.1%)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22.946 (9.7%)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0.607 (0.3%)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208.456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20.336 (9.8%)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8.906 (4.3%)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14.558 (7.0%)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99.683 (47.8%)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61.866 (29.7%)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22.947 (11.0%)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1.643 (0.8%)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194.885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20.352 (10.4%)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8.806 (4.5%)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14.571 (7.5%)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99.828 (51.2%)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46.472 (23.8%)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22.972 (11.8%)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3.171 (1.6%)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187.101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20.424 (10.9%)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8.709 (4.7%)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14.770 (7.9%)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100.075 (53.5%)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37.276 (19.9%)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22.995 (12.3%)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4.204 (2.2%)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174.695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20.457 (11.7%)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9.018 (5.2%)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14.960 (8.6%)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100.049 (57.3%)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17.888 (10.2%)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22.148 (12.7%)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5.994 (3.4%)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411480" y="3246120"/>
          <a:ext cx="112928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791"/>
                <a:gridCol w="761315"/>
                <a:gridCol w="676724"/>
                <a:gridCol w="930496"/>
                <a:gridCol w="930496"/>
                <a:gridCol w="719019"/>
                <a:gridCol w="761315"/>
                <a:gridCol w="1226563"/>
                <a:gridCol w="972791"/>
                <a:gridCol w="845905"/>
                <a:gridCol w="761315"/>
                <a:gridCol w="888200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DV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层类型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层类型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dispatch/combine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LPU-DV通信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KDA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MLA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(μs/token)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 (2.4%)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7.281 (3.0%)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52.710 (21.4%)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7.595 (3.1%)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28.928 (11.7%)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27.148 (11.0%)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38.385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93.118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1652.628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 (2.5%)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52.710 (22.2%)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7.595 (3.2%)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28.928 (12.2%)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27.148 (11.4%)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36.397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91.493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1601.406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 (2.8%)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(3.0%)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4.188 (2.0%)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52.710 (25.3%)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7.595 (3.6%)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28.928 (13.9%)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27.148 (13.0%)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30.194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86.012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1438.689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 (3.0%)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(3.2%)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3.141 (1.6%)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52.710 (27.0%)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7.595 (3.9%)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28.928 (14.8%)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27.148 (13.9%)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83.260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1357.489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 (3.1%)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(3.4%)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2.513 (1.3%)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52.710 (28.2%)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7.595 (4.1%)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28.928 (15.5%)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27.148 (14.5%)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25.242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81.626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1308.732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 (3.3%)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(3.6%)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1.206 (0.7%)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52.710 (30.2%)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7.595 (4.3%)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28.928 (16.6%)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27.148 (15.5%)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22.202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78.995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1229.385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144768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FFN_LPU 四项由单次服务原始算子明细逐项求和，并按联合图中的服务次数展开。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KDA avg / MLA avg 使用当前 TPOT 估算器的 warm-up 后层类型均值。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时间拆分：ATTN_LPU、FFN_LPU、DV 与 UB 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时间单位为 μs，括号为该项 / total；compute、NOC 与存储服务可重叠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82"/>
                <a:gridCol w="888200"/>
                <a:gridCol w="1099677"/>
                <a:gridCol w="1099677"/>
                <a:gridCol w="972791"/>
                <a:gridCol w="1268858"/>
                <a:gridCol w="1268858"/>
                <a:gridCol w="1522630"/>
                <a:gridCol w="1268858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总时间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Cube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Vector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breaks (次)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327.753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20.347 (6.2%)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17.509 (5.3%)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24.735 (7.5%)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113.704 (34.7%)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92.641 (28.3%)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28.380 (8.7%)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8.281 (2.5%)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319.722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20.341 (6.4%)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17.513 (5.5%)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24.946 (7.8%)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109.749 (34.3%)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92.986 (29.1%)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28.447 (8.9%)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1.214 (0.4%)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289.480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20.368 (7.0%)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17.427 (6.0%)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24.987 (8.6%)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107.362 (37.1%)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61.999 (21.4%)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28.398 (9.8%)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1.248 (0.4%)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275.896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20.368 (7.4%)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17.427 (6.3%)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24.994 (9.1%)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106.562 (38.6%)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46.500 (16.9%)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28.398 (10.3%)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2.744 (1.0%)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267.795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20.368 (7.6%)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17.427 (6.5%)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25.023 (9.3%)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106.362 (39.7%)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37.200 (13.9%)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28.398 (10.6%)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3.670 (1.4%)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257.268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20.665 (8.0%)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17.227 (6.7%)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25.813 (10.0%)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107.697 (41.9%)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18.112 (7.0%)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26.811 (10.4%)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4.194 (1.6%)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411480" y="3246120"/>
          <a:ext cx="112928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791"/>
                <a:gridCol w="761315"/>
                <a:gridCol w="676724"/>
                <a:gridCol w="930496"/>
                <a:gridCol w="930496"/>
                <a:gridCol w="719019"/>
                <a:gridCol w="761315"/>
                <a:gridCol w="1226563"/>
                <a:gridCol w="972791"/>
                <a:gridCol w="845905"/>
                <a:gridCol w="761315"/>
                <a:gridCol w="888200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DV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层类型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层类型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dispatch/combine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LPU-DV通信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KDA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MLA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(μs/token)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 (1.8%)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7.281 (2.2%)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(1.9%)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103.400 (31.5%)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10.190 (3.1%)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34.943 (10.7%)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30.200 (9.2%)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44.256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150.632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1311.391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 (1.8%)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103.400 (32.3%)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10.190 (3.2%)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34.943 (10.9%)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30.200 (9.4%)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42.650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149.132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1285.617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 (2.0%)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4.188 (1.4%)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103.400 (35.7%)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10.190 (3.5%)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34.943 (12.1%)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30.200 (10.4%)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36.320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143.666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1185.892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 (2.1%)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3.141 (1.1%)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103.400 (37.5%)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10.190 (3.7%)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34.943 (12.7%)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30.200 (10.9%)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33.229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140.946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1136.983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 (2.2%)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2.513 (0.9%)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103.400 (38.6%)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10.190 (3.8%)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34.943 (13.0%)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30.200 (11.3%)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31.374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139.338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1107.741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 (2.3%)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1.206 (0.5%)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103.400 (40.2%)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10.190 (4.0%)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34.943 (13.6%)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30.200 (11.7%)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28.889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137.637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1070.464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144768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FFN_LPU 四项由单次服务原始算子明细逐项求和，并按联合图中的服务次数展开。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KDA avg / MLA avg 使用当前 TPOT 估算器的 warm-up 后层类型均值。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单 core L1.5 带宽：联合泳道对比（1/2）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关闭预取 · TP8/128k；右侧 384 GB/s/core · TP8/128k；端点为 monotonic envelope 最终选中结果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 · TP8/128k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384 GB/s/core · TP8/128k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960120" y="4782312"/>
          <a:ext cx="10241274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79"/>
                <a:gridCol w="1706879"/>
                <a:gridCol w="1706879"/>
                <a:gridCol w="1706879"/>
                <a:gridCol w="1706879"/>
                <a:gridCol w="1706879"/>
              </a:tblGrid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246.730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7.868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8.878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1.6526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237.154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6.864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0.607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1.6014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同为 384 GB/s/core：左侧关闭跨算子异步预取，右侧开启；两者均保留算子内部同步 tile 流水。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单 core L1.5 带宽：联合泳道对比（2/2）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768 GB/s/core · TP8/128k；右侧 2000 GB/s/core · TP8/128k；端点为 monotonic envelope 最终选中结果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768 GB/s/core · TP8/128k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2000 GB/s/core · TP8/128k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960120" y="4782312"/>
          <a:ext cx="10241274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79"/>
                <a:gridCol w="1706879"/>
                <a:gridCol w="1706879"/>
                <a:gridCol w="1706879"/>
                <a:gridCol w="1706879"/>
                <a:gridCol w="1706879"/>
              </a:tblGrid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194.885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6.648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3.171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1.3575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174.695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6.646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1.2294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两侧均开启预取，只比较 768 与 2000 GB/s/core 的 L1.5→L1 带宽。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单 core L1.5 带宽端点：FFN 服务独立映射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同为 384 GB/s/core，仅切换异步预取；按 mapper 绝对时间由当前 FFN CSV/trace 重画。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 · TP8/128k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384 GB/s/core · TP8/128k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777240" y="4782312"/>
          <a:ext cx="1065276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595"/>
                <a:gridCol w="1331595"/>
                <a:gridCol w="1331595"/>
                <a:gridCol w="1331595"/>
                <a:gridCol w="1331595"/>
                <a:gridCol w="1331595"/>
                <a:gridCol w="1331595"/>
                <a:gridCol w="1331595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单次FFN服务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五层FFN总耗时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compute总和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NOC总和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DRAM total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L1.5 total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L1 total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1.574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7.868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7.281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1.373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6.864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关闭预取表示没有跨算子的异步权重预取；算子内部 L2→L1.5→L1 tile 流水仍按因果关系重放。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四项资源时间为五层服务次数展开后的直接求和，可彼此重叠，不相加重建墙钟时延。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单 core L1.5 带宽端点：Activation SRAM 占用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与联合、FFN 页采用同一对工况；曲线由当前 activation trace 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 · TP8/128k</a:t>
            </a:r>
          </a:p>
        </p:txBody>
      </p:sp>
      <p:pic>
        <p:nvPicPr>
          <p:cNvPr id="5" name="Picture 4" descr="activation_sram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384 GB/s/core · TP8/128k</a:t>
            </a:r>
          </a:p>
        </p:txBody>
      </p:sp>
      <p:pic>
        <p:nvPicPr>
          <p:cNvPr id="7" name="Picture 6" descr="activation_sram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828800" y="4782312"/>
          <a:ext cx="85039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Activation buffer (MB/core)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246.730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1.6526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237.154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1.6014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该图只展示 activation/resident SRAM；权重预取缓冲区由 L1.5 trace 单独审计。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单 core L1.5 带宽：联合泳道对比（1/2）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关闭预取 · TP8/128k；右侧 384 GB/s/core · TP8/128k；端点为 monotonic envelope 最终选中结果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 · TP8/128k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384 GB/s/core · TP8/128k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960120" y="4782312"/>
          <a:ext cx="10241274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79"/>
                <a:gridCol w="1706879"/>
                <a:gridCol w="1706879"/>
                <a:gridCol w="1706879"/>
                <a:gridCol w="1706879"/>
                <a:gridCol w="1706879"/>
              </a:tblGrid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327.753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7.868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8.281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1.3114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319.722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6.864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1.214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1.2856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同为 384 GB/s/core：左侧关闭跨算子异步预取，右侧开启；两者均保留算子内部同步 tile 流水。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单 core L1.5 带宽：联合泳道对比（2/2）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768 GB/s/core · TP8/128k；右侧 2000 GB/s/core · TP8/128k；端点为 monotonic envelope 最终选中结果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768 GB/s/core · TP8/128k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2000 GB/s/core · TP8/128k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960120" y="4782312"/>
          <a:ext cx="10241274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79"/>
                <a:gridCol w="1706879"/>
                <a:gridCol w="1706879"/>
                <a:gridCol w="1706879"/>
                <a:gridCol w="1706879"/>
                <a:gridCol w="1706879"/>
              </a:tblGrid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275.896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6.648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2.744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1.1370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257.268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6.646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4.194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1.0705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两侧均开启预取，只比较 768 与 2000 GB/s/core 的 L1.5→L1 带宽。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单 core L1.5 带宽端点：FFN 服务独立映射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同为 384 GB/s/core，仅切换异步预取；按 mapper 绝对时间由当前 FFN CSV/trace 重画。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 · TP8/128k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384 GB/s/core · TP8/128k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777240" y="4782312"/>
          <a:ext cx="1065276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595"/>
                <a:gridCol w="1331595"/>
                <a:gridCol w="1331595"/>
                <a:gridCol w="1331595"/>
                <a:gridCol w="1331595"/>
                <a:gridCol w="1331595"/>
                <a:gridCol w="1331595"/>
                <a:gridCol w="1331595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单次FFN服务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五层FFN总耗时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compute总和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NOC总和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DRAM total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L1.5 total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L1 total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1.574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7.868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7.281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1.373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6.864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5.840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关闭预取表示没有跨算子的异步权重预取；算子内部 L2→L1.5→L1 tile 流水仍按因果关系重放。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四项资源时间为五层服务次数展开后的直接求和，可彼此重叠，不相加重建墙钟时延。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单 core L1.5 带宽端点：Activation SRAM 占用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与联合、FFN 页采用同一对工况；曲线由当前 activation trace 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 · TP8/128k</a:t>
            </a:r>
          </a:p>
        </p:txBody>
      </p:sp>
      <p:pic>
        <p:nvPicPr>
          <p:cNvPr id="5" name="Picture 4" descr="activation_sram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384 GB/s/core · TP8/128k</a:t>
            </a:r>
          </a:p>
        </p:txBody>
      </p:sp>
      <p:pic>
        <p:nvPicPr>
          <p:cNvPr id="7" name="Picture 6" descr="activation_sram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828800" y="4782312"/>
          <a:ext cx="85039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Activation buffer (MB/core)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327.753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1.3114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319.722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1.2856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该图只展示 activation/resident SRAM；权重预取缓冲区由 L1.5 trace 单独审计。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结论：本次最低 TPOT 工况为 2000 GB/s/core · TP8/128k，1.0705 ms/token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结论只覆盖本结果目录包含的模型、上下文、硬件设置与已记录搜索结果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424160" cy="3886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1828"/>
                </a:solidFill>
                <a:latin typeface="Microsoft YaHei"/>
                <a:ea typeface="Microsoft YaHei"/>
              </a:rPr>
              <a:t>关键路径：2000 GB/s/core · TP8/128k 五层总时延 257.268 μs，其中四层 KDA 119.631 μs、一层 MLA 137.637 μs。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1828"/>
                </a:solidFill>
                <a:latin typeface="Microsoft YaHei"/>
                <a:ea typeface="Microsoft YaHei"/>
              </a:rPr>
              <a:t>单 core L1.5 带宽，Spec 1+3 / TP8 / 128k：384 GB/s/core · TP8/128k→2000 GB/s/core · TP8/128k，TPOT 1.6014→1.2294 ms/token（-23.23%）。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8"/>
                </a:solidFill>
                <a:latin typeface="Microsoft YaHei"/>
                <a:ea typeface="Microsoft YaHei"/>
              </a:rPr>
              <a:t>独立搜索属于启发式结果，不能据此证明全局最优；有序内存 sweep 默认另存 monotonic envelope 结果。</a:t>
            </a:r>
          </a:p>
        </p:txBody>
      </p:sp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1097280" y="4754880"/>
          <a:ext cx="9966959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677"/>
                <a:gridCol w="7565282"/>
              </a:tblGrid>
              <a:tr h="24003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自动产物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用途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003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PPT紧凑数据表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逐工况关键路径、资源总量、暴露时间与 TPOT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003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报告数据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PPT页面和结论的可审计输入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003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趋势图与代表泳道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逐组 sweep 趋势和端点时序核对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最终实验条件：模型、搜索与产物策略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该清单与运行前确认使用同一份权威数据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685800" y="1143000"/>
          <a:ext cx="10835639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972"/>
                <a:gridCol w="8453667"/>
              </a:tblGrid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条件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取值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模型 / preset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kimi_k3 / l15-bandwidth-sweep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 / context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spec3, spec7 / 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采样层 / 调度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 layers / early-q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搜索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diverse；beam=128, bucket=2, ratio=0.5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各组实际 Sweep 搜索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l15_bandwidth_sweep=monotonic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并发 / 复用校验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workers=2；复用与汇总均要求 manifest/条件指纹完全一致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图表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plot=True；activation trace=True；state band=0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所有表项均来自本次运行实际使用的模型、搜索、绘图和结果设置。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最终实验条件：模型配置、投机策略、芯片与链路（1）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同一实验中未声明为扫描轴的字段必须一致；不允许某些工况漏加 drafter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228600" y="1078992"/>
          <a:ext cx="1175003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275"/>
                <a:gridCol w="1474701"/>
                <a:gridCol w="1664985"/>
                <a:gridCol w="1855269"/>
                <a:gridCol w="1855269"/>
                <a:gridCol w="2045553"/>
                <a:gridCol w="1664985"/>
              </a:tblGrid>
              <a:tr h="15087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 / Seq / BS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DV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Drafter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接受率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5087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 / 131072 / 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B200-1 ×1; A=1×1; M=1×1×1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×8; A=1×8; M=8×1×1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×896; A=896×1; M=1×1×896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0.8+0×3=0.8 ms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 / E[token]=3.4390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5087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 / 131072 / 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B200-1 ×1; A=1×1; M=1×1×1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×8; A=1×8; M=8×1×1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×896; A=896×1; M=1×1×896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0.8+0×7=0.8 ms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 / E[token]=5.6950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Drafter 显示 base + per-step × spec_steps；芯片角色与并行配置按本次模型配置读取。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最终实验条件：AFD 有向链路（1）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每个方向分别记录静态时延、有效带宽输入口径和链路作用域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8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330"/>
                <a:gridCol w="2858353"/>
                <a:gridCol w="1358889"/>
                <a:gridCol w="1546322"/>
                <a:gridCol w="3654944"/>
              </a:tblGrid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链路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静态时延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 (GB/s)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带宽口径 / scope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endpoint_max / in_cabinet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attn_lpu-&gt;attn_npu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in_cabinet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attn_lpu-&gt;ffn_lpu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attn_npu-&gt;attn_lpu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in_cabinet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attn_npu-&gt;ffn_lpu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ffn_lpu-&gt;attn_npu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endpoint_max / in_cabinet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跨设备链路必须符合统一静态时延策略；TP/self 链路若存在则独立列出。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最终实验条件：AFD 有向链路（2）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每个方向分别记录静态时延、有效带宽输入口径和链路作用域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8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330"/>
                <a:gridCol w="2858353"/>
                <a:gridCol w="1358889"/>
                <a:gridCol w="1546322"/>
                <a:gridCol w="3654944"/>
              </a:tblGrid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链路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静态时延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 (GB/s)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带宽口径 / scope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attn_lpu-&gt;attn_npu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in_cabinet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attn_lpu-&gt;ffn_lpu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attn_npu-&gt;attn_lpu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in_cabinet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attn_npu-&gt;ffn_lpu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ffn_lpu-&gt;attn_npu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跨设备链路必须符合统一静态时延策略；TP/self 链路若存在则独立列出。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最终实验条件：LPU 硬件与扫描点（1）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SRAM 容量列依次为总容量 / 激活预留 / 权重预取；单位均为每 core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182880" y="1051560"/>
          <a:ext cx="11795755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45"/>
                <a:gridCol w="1053916"/>
                <a:gridCol w="1945692"/>
                <a:gridCol w="1094451"/>
                <a:gridCol w="1702480"/>
                <a:gridCol w="1013381"/>
                <a:gridCol w="1702480"/>
                <a:gridCol w="810705"/>
                <a:gridCol w="810705"/>
              </a:tblGrid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组 / 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Cores / mesh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core_groups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SRAM 总/预留/预取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L1.5/L1 BW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预取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冗余计算 / 计算通信掩盖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扫描值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l15_bandwidth_sweep/tp8/l15_bw_3.84e+11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0.384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l15_bandwidth_Bps=3.84e+11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l15_bandwidth_sweep/tp8/l15_bw_5.76e+11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0.576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l15_bandwidth_Bps=5.76e+11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l15_bandwidth_sweep/tp8/l15_bw_7.68e+11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0.768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l15_bandwidth_Bps=7.68e+11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l15_bandwidth_sweep/tp8/l15_bw_9.6e+11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0.96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l15_bandwidth_Bps=9.6e+11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l15_bandwidth_sweep/tp8/l15_bw_2e+12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2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l15_bandwidth_Bps=2e+12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只有表中“扫描值”明确指出的参数允许在同组工况间变化。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Kimi K3 A3FD DSE report</dc:title>
  <dc:subject/>
  <dc:creator>open_infer_sim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