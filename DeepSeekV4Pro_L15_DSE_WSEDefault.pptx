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40000"/>
                </a:solidFill>
                <a:latin typeface="Microsoft YaHei"/>
                <a:ea typeface="Microsoft YaHei"/>
              </a:rPr>
              <a:t>A3FD 参数扫描实验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基于 FFN 服务独立映射注入联合仿真，评估 L1.5 带宽 对端到端时延的影响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代表工况 TPOT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0000"/>
                </a:solidFill>
                <a:latin typeface="Microsoft YaHei"/>
                <a:ea typeface="Microsoft YaHei"/>
              </a:rPr>
              <a:t>0.6722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Spec 1+3 与 Spec 1+7 中最低点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五层联合仿真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244.513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Attention 与 FFN 服务同一时间轴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FFN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</a:rPr>
              <a:t>2.521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独立映射后注入联合调度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预取 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3.5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 core 可用于权重预取的容量</a:t>
            </a:r>
          </a:p>
        </p:txBody>
      </p:sp>
      <p:graphicFrame>
        <p:nvGraphicFramePr>
          <p:cNvPr id="16" name="Table 15"/>
          <p:cNvGraphicFramePr>
            <a:graphicFrameLocks/>
          </p:cNvGraphicFramePr>
          <p:nvPr/>
        </p:nvGraphicFramePr>
        <p:xfrm>
          <a:off x="731520" y="274320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FFN服务(us)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五层时延(us)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ITL(ms)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预取SRAM(MB)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193.188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3.1908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0.9278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2.521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244.513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3.8284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服务时延来自独立映射结果，不再只保留为联合仿真中的固定时延节点。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TPOT 由前五层 HCA/CSA 时延外推，并加入 detail 中配置的投机开销与接受率。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L1.5 带宽扫描：最佳点 TPOT 0.6722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横轴为每 core L1.5→L1 带宽；L1 带宽、DRAM 带宽和两块 SRAM 容量保持不变；本次包含 Spec 1+3 与 Spec 1+7</a:t>
            </a:r>
          </a:p>
        </p:txBody>
      </p:sp>
      <p:pic>
        <p:nvPicPr>
          <p:cNvPr id="4" name="Picture 3" descr="tpot_vs_l15_bandwidth_spec3_spe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492240" cy="4343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7059168" y="1024128"/>
          <a:ext cx="4800600" cy="2560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L1.5带宽 (GB/s/core)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 (次)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0.7692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288.244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283.036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0.7170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264.032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0.187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0.6969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1.048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0.6848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249.978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244.513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2.026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239.438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1.0099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214.830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0.9767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206.077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1.855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0.9569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200.820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0.9278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193.188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3.158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本组固定 L1=2 TB/s/core；所有 prefetchable 权重都支付 L1.5→L1 服务时间。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本组固定 DRAM=384 GB/s/core、总 SRAM=4 MB/core；monotonic envelope 保证已发现路径不会随带宽提升而退化。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关闭预取为相同硬件条件下的独立搜索对照，不属于 L1.5 monotonic envelope。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total；外部计算归入 DV，Attention-Aux AllReduce 单列为 UB 承载的 TP 通信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288.244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3.36(1%)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21.1(7%)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96.3(33%)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87.8(30%)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25.7(9%)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7.24(3%)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283.036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3.32(1%)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93.5(33%)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88.2(31%)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25.8(9%)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264.032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19.3(7%)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3.19(1%)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22.0(8%)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91.1(34%)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59.1(22%)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25.7(10%)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0.187(0%)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19.3(8%)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3.19(1%)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22.0(9%)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90.3(35%)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44.3(17%)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25.7(10%)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1.05(0%)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249.978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20.1(8%)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2.49(1%)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21.7(9%)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93.3(37%)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36.7(15%)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25.9(10%)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1.20(0%)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244.513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20.1(8%)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2.49(1%)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21.9(9%)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92.9(38%)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17.6(7%)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25.9(11%)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HCA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CSA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80.4(28%)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53.1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64.5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80.4(28%)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758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8.38(3%)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47.8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60.1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717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45.7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58.4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5.03(2%)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43.0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56.5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672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四项由单次服务原始算子明细逐项求和，并按五层服务次数展开；compute、NOC 与存储服务可重叠。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TP AllReduce 由 ATTN_LPU 发起但由 UB 承载；TPOT 直接沿用联合仿真外推结果。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total；外部计算归入 DV，Attention-Aux AllReduce 单列为 UB 承载的 TP 通信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239.438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13.2(6%)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96.2(40%)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87.7(37%)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8.09(3%)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13.3(6%)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93.1(40%)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88.1(38%)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21.4(9%)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214.830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1.79(1%)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13.8(6%)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89.6(42%)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58.7(27%)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0.544(0%)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1.79(1%)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13.8(7%)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89.2(43%)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44.1(21%)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21.3(10%)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1.85(1%)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200.820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19.2(10%)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1.71(1%)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14.7(7%)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88.8(44%)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35.1(17%)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21.2(11%)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2.00(1%)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193.188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20.0(10%)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1.36(1%)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14.2(7%)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92.2(48%)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17.5(9%)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21.6(11%)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3.16(2%)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HCA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CSA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43.6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54.3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1099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42.4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8.38(4%)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49.7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1010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36.1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48.0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5.03(3%)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34.8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47.1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957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5.99(3%)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57.7(30%)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76.7(40%)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45.6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四项由单次服务原始算子明细逐项求和，并按五层服务次数展开；compute、NOC 与存储服务可重叠。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TP AllReduce 由 ATTN_LPU 发起但由 UB 承载；LPU-DV通信不包含该项。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关闭预取（384 GB/s/core）；右侧 开启预取（384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关闭预取（384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288.244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0.7692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283.036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第一页在相同 384 GB/s/core 硬件上隔离预取开关；关闭预取仍保留算子内部同步 tile 流水。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开启预取（768 GB/s/core）；右侧 开启预取（2000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开启预取（768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开启预取（2000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开启预取（768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0.6969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开启预取（2000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244.513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2.026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0.6722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L1.5 带宽扫描只改变预取权重的 L1.5→L1 服务时间；两块 SRAM 容量、另一层 SRAM 带宽和 DRAM 带宽保持不变。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关闭预取（384 GB/s/core）；右侧 开启预取（384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关闭预取（384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239.438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第一页在相同 384 GB/s/core 硬件上隔离预取开关；关闭预取仍保留算子内部同步 tile 流水。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开启预取（768 GB/s/core）；右侧 开启预取（2000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开启预取（768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开启预取（2000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开启预取（768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1.855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0.9767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开启预取（2000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193.188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3.158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0.9278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L1.5 带宽扫描只改变预取权重的 L1.5→L1 服务时间；两块 SRAM 容量、另一层 SRAM 带宽和 DRAM 带宽保持不变。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GB/s/core，仅切换异步预取；图片按 mapper 绝对时间由当前 FFN CSV/trace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关闭预取（仅同步 tile 流水）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782312"/>
          <a:ext cx="9509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2.801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288.244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0.7692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2.599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283.036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服务是注入联合图的独立映射结果；资源时间可以重叠，不能直接相加重建墙钟时延。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no_prefetch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l15_bw384GBps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288.244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0.7692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283.036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GB/s/core，仅切换异步预取；图片按 mapper 绝对时间由当前 FFN CSV/trace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关闭预取（仅同步 tile 流水）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782312"/>
          <a:ext cx="9509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2.801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239.438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2.599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服务是注入联合图的独立映射结果；资源时间可以重叠，不能直接相加重建墙钟时延。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no_prefetch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l15_bw384GBps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239.438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实验结论：先审计 FFN 服务，再判断联合时序瓶颈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所有结论来自同一组自动生成的 summary、breakdown 和趋势图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FFN 服务链路已从联合仿真中的黑盒固定时延，拆成可导出的独立映射结果。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本次报告包含 Spec 1+3 与 Spec 1+7 的原始汇总、时间拆分与趋势数据。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L1.5 带宽扫描用于判断预取权重从 L1.5 搬入 L1 的新增流水是否限制端到端性能。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建议同时审计绝对时延、资源时间拆分和代表工况泳道图。</a:t>
            </a:r>
          </a:p>
        </p:txBody>
      </p:sp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914400" y="3886200"/>
          <a:ext cx="101498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自动产物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逐工况汇总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审计时延、访存与 TPOT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时间拆分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核对设备与通信资源时间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趋势图与泳道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核对扫描趋势和代表时序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最终实验条件：模型、搜索与产物策略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该清单与运行前确认使用同一份权威数据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685800" y="1143000"/>
          <a:ext cx="1083563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972"/>
                <a:gridCol w="8453667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条件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模型 / preset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deepseek_v4_pro / l15-bandwidth-sweep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context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spec3_tp2, spec7_tp2 / 1048576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采样层 / 调度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 layers / early-q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搜索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diverse；beam=128, bucket=2, ratio=0.5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各组实际 Sweep 搜索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l15_bandwidth_sweep=monotonic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并发 / 复用校验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workers=1；复用与汇总均要求 manifest/条件指纹完全一致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图表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plot=True；activation trace=True；state band=0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所有表项均来自本次运行实际使用的模型、搜索、绘图和结果设置。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最终实验条件：模型配置、投机策略、芯片与链路（1）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同一实验中未声明为扫描轴的字段必须一致；不允许某些工况漏加 drafter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228600" y="1078992"/>
          <a:ext cx="1175003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275"/>
                <a:gridCol w="1474701"/>
                <a:gridCol w="1664985"/>
                <a:gridCol w="1855269"/>
                <a:gridCol w="1855269"/>
                <a:gridCol w="2045553"/>
                <a:gridCol w="1664985"/>
              </a:tblGrid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Seq / BS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Drafter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接受率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 / 1048576 /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×2; A=1×2; M=2×1×1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×384; A=384×1; M=1×1×384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0.8+0×3=0.8 ms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E[token]=3.4390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 / 1048576 / 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×2; A=1×2; M=2×1×1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×384; A=384×1; M=1×1×384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0.8+0×7=0.8 ms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E[token]=5.6950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Drafter 显示 base + per-step × spec_steps；芯片角色与并行配置按本次模型配置读取。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destination_card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destination_card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最终实验条件：LPU 硬件与扫描点（1）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SRAM 容量列依次为总容量 / 激活预留 / 权重预取；单位均为每 core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182880" y="1051560"/>
          <a:ext cx="1179575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45"/>
                <a:gridCol w="1053916"/>
                <a:gridCol w="1945692"/>
                <a:gridCol w="1094451"/>
                <a:gridCol w="1702480"/>
                <a:gridCol w="1013381"/>
                <a:gridCol w="1702480"/>
                <a:gridCol w="810705"/>
                <a:gridCol w="810705"/>
              </a:tblGrid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组 / 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Cores / mesh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core_groups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SRAM 总/预留/预取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L1.5/L1 BW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冗余计算 / 计算通信掩盖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扫描值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l15_bandwidth_sweep/l15_bw384GBps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0.384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l15_bandwidth_sweep/l15_bw576GBps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0.576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BW=576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l15_bandwidth_sweep/l15_bw768GBps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0.768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BW=768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l15_bandwidth_sweep/l15_bw960GBps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0.96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BW=960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l15_bandwidth_sweep/l15_bw2000GBps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2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BW=2000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只有表中“扫描值”明确指出的参数允许在同组工况间变化。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A3FD FFN service experiment report</dc:title>
  <dc:subject/>
  <dc:creator>open_infer_sim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